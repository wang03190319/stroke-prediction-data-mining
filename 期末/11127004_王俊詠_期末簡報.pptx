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5A176D8-CE55-411B-8F54-5E0245C558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47D62B-264C-466B-8970-1776368E4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0609DC-FC01-4E93-BB1A-E0209855A5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資料探勘期末延伸研究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A0CF00-AAF4-4FA6-9767-428BC14FC4E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80010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03AFF4-E9BA-437E-9BBE-B3268D970A9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9144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神經網路中風預測分析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8AA39-80BD-47EB-AB8C-B5A8B0CB8743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以 MLP 作為期末延伸主軸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6FADC-A9DF-401E-9E69-48769D1B1E42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742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786"/>
                </a:solidFill>
                <a:latin typeface="Aptos"/>
                <a:ea typeface="Aptos"/>
                <a:cs typeface="Aptos"/>
              </a:rPr>
              <a:t>Pipeline · MLPClassifier · OOF F2 Threshold Tuning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384198-B147-4599-894C-982EA46E3B0D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107632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04C78D-9710-45A8-8EA8-C811D8C89F40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報告者：王俊詠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866133-0D01-43CB-A995-09B107F80598}"/>
              </a:ext>
            </a:extLst>
          </p:cNvPr>
          <p:cNvSpPr>
            <a:spLocks noGrp="1"/>
          </p:cNvSpPr>
          <p:nvPr/>
        </p:nvSpPr>
        <p:spPr>
          <a:xfrm>
            <a:off x="723900" y="5534025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學號：11127004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63D541-F2F6-45CA-92E1-60237C93B6EC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882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1CDFC66-99C4-4837-9B9D-55FF5F8A8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994F4B-62E6-4118-98AF-A5113EE40E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277F41-1B22-4829-91F4-F09F2456DA4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研究延伸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52FEF3-F28F-40A0-8F10-35419E09F60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期中建立基線，期末改以神經網路延伸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1CFDE4-DB80-49C3-971B-BBDB282761AC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43D50B-C12A-4539-AA3B-6E8BA37B85D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49A25A-528F-4FEA-9BFD-AA356B21AD97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42875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D9FFAE-016C-4ACF-80B0-EF3063B50C79}"/>
              </a:ext>
            </a:extLst>
          </p:cNvPr>
          <p:cNvSpPr>
            <a:spLocks noGrp="1"/>
          </p:cNvSpPr>
          <p:nvPr/>
        </p:nvSpPr>
        <p:spPr>
          <a:xfrm>
            <a:off x="9144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期中報告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28F73-BF00-4256-95AD-EABDE542D6A4}"/>
              </a:ext>
            </a:extLst>
          </p:cNvPr>
          <p:cNvSpPr>
            <a:spLocks noGrp="1"/>
          </p:cNvSpPr>
          <p:nvPr/>
        </p:nvSpPr>
        <p:spPr>
          <a:xfrm>
            <a:off x="857250" y="260032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1A7387-6D59-4B7B-9338-2DC8A679FFEC}"/>
              </a:ext>
            </a:extLst>
          </p:cNvPr>
          <p:cNvSpPr>
            <a:spLocks noGrp="1"/>
          </p:cNvSpPr>
          <p:nvPr/>
        </p:nvSpPr>
        <p:spPr>
          <a:xfrm>
            <a:off x="13525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平均補值、MinMaxScaler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89E60-0165-4F1C-A308-53E9CE39E35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109086-4863-45DD-B3CB-7FAF9C4B1171}"/>
              </a:ext>
            </a:extLst>
          </p:cNvPr>
          <p:cNvSpPr>
            <a:spLocks noGrp="1"/>
          </p:cNvSpPr>
          <p:nvPr/>
        </p:nvSpPr>
        <p:spPr>
          <a:xfrm>
            <a:off x="13525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LR / RF / KNN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970966-B156-4B54-861F-52B76CD536C8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438CF8-4003-4E20-894B-A9909D21181A}"/>
              </a:ext>
            </a:extLst>
          </p:cNvPr>
          <p:cNvSpPr>
            <a:spLocks noGrp="1"/>
          </p:cNvSpPr>
          <p:nvPr/>
        </p:nvSpPr>
        <p:spPr>
          <a:xfrm>
            <a:off x="13525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class_weight / SMOTE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104BD-2B4F-4A1D-B707-C715F39EB3A2}"/>
              </a:ext>
            </a:extLst>
          </p:cNvPr>
          <p:cNvSpPr>
            <a:spLocks noGrp="1"/>
          </p:cNvSpPr>
          <p:nvPr/>
        </p:nvSpPr>
        <p:spPr>
          <a:xfrm>
            <a:off x="3810000" y="3362325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908C68-5014-4ECC-9BFE-BE2DDF90AE95}"/>
              </a:ext>
            </a:extLst>
          </p:cNvPr>
          <p:cNvSpPr>
            <a:spLocks noGrp="1"/>
          </p:cNvSpPr>
          <p:nvPr/>
        </p:nvSpPr>
        <p:spPr>
          <a:xfrm>
            <a:off x="42291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8A220E-2F20-47D0-8C5C-06DC374FEF1E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1428750" cy="323850"/>
          </a:xfrm>
          <a:prstGeom prst="rect">
            <a:avLst/>
          </a:prstGeom>
          <a:solidFill>
            <a:srgbClr val="E3A83B"/>
          </a:solidFill>
          <a:ln w="0">
            <a:solidFill>
              <a:srgbClr val="E3A83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759FE7-390A-4647-B7AB-E2BF2BB0D93E}"/>
              </a:ext>
            </a:extLst>
          </p:cNvPr>
          <p:cNvSpPr>
            <a:spLocks noGrp="1"/>
          </p:cNvSpPr>
          <p:nvPr/>
        </p:nvSpPr>
        <p:spPr>
          <a:xfrm>
            <a:off x="45339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期末重點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57DA17-5511-4E2A-9A86-255FFA8043D7}"/>
              </a:ext>
            </a:extLst>
          </p:cNvPr>
          <p:cNvSpPr>
            <a:spLocks noGrp="1"/>
          </p:cNvSpPr>
          <p:nvPr/>
        </p:nvSpPr>
        <p:spPr>
          <a:xfrm>
            <a:off x="4476750" y="260032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5F5FCC-9C2F-43CE-9A38-446445B020C2}"/>
              </a:ext>
            </a:extLst>
          </p:cNvPr>
          <p:cNvSpPr>
            <a:spLocks noGrp="1"/>
          </p:cNvSpPr>
          <p:nvPr/>
        </p:nvSpPr>
        <p:spPr>
          <a:xfrm>
            <a:off x="49720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 Neural Network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421CD8-865D-4BE7-B0C8-A8F1140C40A9}"/>
              </a:ext>
            </a:extLst>
          </p:cNvPr>
          <p:cNvSpPr>
            <a:spLocks noGrp="1"/>
          </p:cNvSpPr>
          <p:nvPr/>
        </p:nvSpPr>
        <p:spPr>
          <a:xfrm>
            <a:off x="4476750" y="341947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7C5065-35C6-4C4A-9F67-E0446A5117E0}"/>
              </a:ext>
            </a:extLst>
          </p:cNvPr>
          <p:cNvSpPr>
            <a:spLocks noGrp="1"/>
          </p:cNvSpPr>
          <p:nvPr/>
        </p:nvSpPr>
        <p:spPr>
          <a:xfrm>
            <a:off x="49720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比較非線性模型能力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2F93EE-D295-4280-AAF4-29D75FC3BC1A}"/>
              </a:ext>
            </a:extLst>
          </p:cNvPr>
          <p:cNvSpPr>
            <a:spLocks noGrp="1"/>
          </p:cNvSpPr>
          <p:nvPr/>
        </p:nvSpPr>
        <p:spPr>
          <a:xfrm>
            <a:off x="4476750" y="423862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14292D-A2D9-4F77-8834-E34CE1E99846}"/>
              </a:ext>
            </a:extLst>
          </p:cNvPr>
          <p:cNvSpPr>
            <a:spLocks noGrp="1"/>
          </p:cNvSpPr>
          <p:nvPr/>
        </p:nvSpPr>
        <p:spPr>
          <a:xfrm>
            <a:off x="49720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仍需處理類別不平衡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D3C405-CA80-4232-900A-951249986B56}"/>
              </a:ext>
            </a:extLst>
          </p:cNvPr>
          <p:cNvSpPr>
            <a:spLocks noGrp="1"/>
          </p:cNvSpPr>
          <p:nvPr/>
        </p:nvSpPr>
        <p:spPr>
          <a:xfrm>
            <a:off x="7429500" y="3362325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C15EFD-61ED-4F5E-9B1B-057888968CF9}"/>
              </a:ext>
            </a:extLst>
          </p:cNvPr>
          <p:cNvSpPr>
            <a:spLocks noGrp="1"/>
          </p:cNvSpPr>
          <p:nvPr/>
        </p:nvSpPr>
        <p:spPr>
          <a:xfrm>
            <a:off x="78486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413BAE-25D0-4EBA-8D49-35293D747DB3}"/>
              </a:ext>
            </a:extLst>
          </p:cNvPr>
          <p:cNvSpPr>
            <a:spLocks noGrp="1"/>
          </p:cNvSpPr>
          <p:nvPr/>
        </p:nvSpPr>
        <p:spPr>
          <a:xfrm>
            <a:off x="8077200" y="1943100"/>
            <a:ext cx="142875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15949A-DE7E-46C3-A01B-4BD37D43107C}"/>
              </a:ext>
            </a:extLst>
          </p:cNvPr>
          <p:cNvSpPr>
            <a:spLocks noGrp="1"/>
          </p:cNvSpPr>
          <p:nvPr/>
        </p:nvSpPr>
        <p:spPr>
          <a:xfrm>
            <a:off x="81534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本次延伸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71BCBF-849F-4EF4-85BE-749883EA2B6C}"/>
              </a:ext>
            </a:extLst>
          </p:cNvPr>
          <p:cNvSpPr>
            <a:spLocks noGrp="1"/>
          </p:cNvSpPr>
          <p:nvPr/>
        </p:nvSpPr>
        <p:spPr>
          <a:xfrm>
            <a:off x="8096250" y="260032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435030-DA28-4DCF-90CF-0F460AF53901}"/>
              </a:ext>
            </a:extLst>
          </p:cNvPr>
          <p:cNvSpPr>
            <a:spLocks noGrp="1"/>
          </p:cNvSpPr>
          <p:nvPr/>
        </p:nvSpPr>
        <p:spPr>
          <a:xfrm>
            <a:off x="85915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MLPClassifier 作為主模型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E3A434-D95D-43BA-8EAE-12A3DD8932A1}"/>
              </a:ext>
            </a:extLst>
          </p:cNvPr>
          <p:cNvSpPr>
            <a:spLocks noGrp="1"/>
          </p:cNvSpPr>
          <p:nvPr/>
        </p:nvSpPr>
        <p:spPr>
          <a:xfrm>
            <a:off x="8096250" y="341947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9A278C-7C9D-4F30-913E-51C5B0CCF9AC}"/>
              </a:ext>
            </a:extLst>
          </p:cNvPr>
          <p:cNvSpPr>
            <a:spLocks noGrp="1"/>
          </p:cNvSpPr>
          <p:nvPr/>
        </p:nvSpPr>
        <p:spPr>
          <a:xfrm>
            <a:off x="85915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GridSearchCV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搜尋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135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參數</a:t>
            </a:r>
            <a:endParaRPr sz="135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72A53F-42C3-4A63-BF71-B5DA3B529C2F}"/>
              </a:ext>
            </a:extLst>
          </p:cNvPr>
          <p:cNvSpPr>
            <a:spLocks noGrp="1"/>
          </p:cNvSpPr>
          <p:nvPr/>
        </p:nvSpPr>
        <p:spPr>
          <a:xfrm>
            <a:off x="8096250" y="423862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8E8F0F-C6E7-400A-8AC2-32138DE5C426}"/>
              </a:ext>
            </a:extLst>
          </p:cNvPr>
          <p:cNvSpPr>
            <a:spLocks noGrp="1"/>
          </p:cNvSpPr>
          <p:nvPr/>
        </p:nvSpPr>
        <p:spPr>
          <a:xfrm>
            <a:off x="85915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OOF F2 </a:t>
            </a: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選擇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sz="135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35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門檻</a:t>
            </a:r>
            <a:endParaRPr sz="135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ACA844-8DB3-45EF-9C6D-564AB6DFB77C}"/>
              </a:ext>
            </a:extLst>
          </p:cNvPr>
          <p:cNvSpPr>
            <a:spLocks noGrp="1"/>
          </p:cNvSpPr>
          <p:nvPr/>
        </p:nvSpPr>
        <p:spPr>
          <a:xfrm>
            <a:off x="2038350" y="5810250"/>
            <a:ext cx="809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延伸重點：以 MLP 神經網路為主，LR 作為可解釋基準模型。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E60F05-3659-41CB-8BF7-1C2B5C65EA7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190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A0E7B2A-A479-4EF3-A3B3-14E874DC41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8567BB-6507-45FA-A0B6-DA53E9FA8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F1BBE3-5E44-4C87-AA10-FD07E2F09FA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5199F-A59D-43EE-9551-CB8459593186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資料集的核心難題：中風案例只占 4.87%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F10574-9C1F-47D4-A540-AED94B35DAF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07826B-85E9-44F7-A86B-2EB21526089D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734377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353310"/>
            <a:ext cx="7191375" cy="293243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485425C-C594-4142-BEA4-F3B156AA5448}"/>
              </a:ext>
            </a:extLst>
          </p:cNvPr>
          <p:cNvSpPr>
            <a:spLocks noGrp="1"/>
          </p:cNvSpPr>
          <p:nvPr/>
        </p:nvSpPr>
        <p:spPr>
          <a:xfrm>
            <a:off x="8096250" y="1752600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2D04E5-3735-45DF-8983-FC1D5B06F091}"/>
              </a:ext>
            </a:extLst>
          </p:cNvPr>
          <p:cNvSpPr>
            <a:spLocks noGrp="1"/>
          </p:cNvSpPr>
          <p:nvPr/>
        </p:nvSpPr>
        <p:spPr>
          <a:xfrm>
            <a:off x="8096250" y="17526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A98B21-31B1-47DE-8DD1-56EBEC7D1AAC}"/>
              </a:ext>
            </a:extLst>
          </p:cNvPr>
          <p:cNvSpPr>
            <a:spLocks noGrp="1"/>
          </p:cNvSpPr>
          <p:nvPr/>
        </p:nvSpPr>
        <p:spPr>
          <a:xfrm>
            <a:off x="8305800" y="189547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樣本數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9B5BDC-D261-4663-9DA6-A2BC334A6275}"/>
              </a:ext>
            </a:extLst>
          </p:cNvPr>
          <p:cNvSpPr>
            <a:spLocks noGrp="1"/>
          </p:cNvSpPr>
          <p:nvPr/>
        </p:nvSpPr>
        <p:spPr>
          <a:xfrm>
            <a:off x="8305800" y="213360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5,110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BD9C0A-C08A-4260-9F7F-D2B1E8850074}"/>
              </a:ext>
            </a:extLst>
          </p:cNvPr>
          <p:cNvSpPr>
            <a:spLocks noGrp="1"/>
          </p:cNvSpPr>
          <p:nvPr/>
        </p:nvSpPr>
        <p:spPr>
          <a:xfrm>
            <a:off x="8305800" y="255270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健康與生活型態資料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B6742E-53CC-492B-86F4-50EA33464D87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631E08-7554-43C7-8C4D-1FB0345C16F5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A6E3C8-6BE6-4AD6-931A-B5654E610766}"/>
              </a:ext>
            </a:extLst>
          </p:cNvPr>
          <p:cNvSpPr>
            <a:spLocks noGrp="1"/>
          </p:cNvSpPr>
          <p:nvPr/>
        </p:nvSpPr>
        <p:spPr>
          <a:xfrm>
            <a:off x="8305800" y="32004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中風案例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CCC43A-8669-423A-80BE-034728108E7A}"/>
              </a:ext>
            </a:extLst>
          </p:cNvPr>
          <p:cNvSpPr>
            <a:spLocks noGrp="1"/>
          </p:cNvSpPr>
          <p:nvPr/>
        </p:nvSpPr>
        <p:spPr>
          <a:xfrm>
            <a:off x="8305800" y="3438525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249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35844A-430C-4A03-95BF-178CE4B2E98F}"/>
              </a:ext>
            </a:extLst>
          </p:cNvPr>
          <p:cNvSpPr>
            <a:spLocks noGrp="1"/>
          </p:cNvSpPr>
          <p:nvPr/>
        </p:nvSpPr>
        <p:spPr>
          <a:xfrm>
            <a:off x="8305800" y="3857625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少數類別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8882A-AE4F-4776-82E4-B978EBBA042A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4200AC-F962-4B1D-9C0F-54024A81E84D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2A77CD-0B1A-439A-A4CC-9FCFAD0FDFD1}"/>
              </a:ext>
            </a:extLst>
          </p:cNvPr>
          <p:cNvSpPr>
            <a:spLocks noGrp="1"/>
          </p:cNvSpPr>
          <p:nvPr/>
        </p:nvSpPr>
        <p:spPr>
          <a:xfrm>
            <a:off x="8305800" y="450532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中風比例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2C3BD5-DCED-4918-AF22-7591093C3666}"/>
              </a:ext>
            </a:extLst>
          </p:cNvPr>
          <p:cNvSpPr>
            <a:spLocks noGrp="1"/>
          </p:cNvSpPr>
          <p:nvPr/>
        </p:nvSpPr>
        <p:spPr>
          <a:xfrm>
            <a:off x="8305800" y="47434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4.87%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6FC420-2D27-48C2-876F-361DEBEE6EAA}"/>
              </a:ext>
            </a:extLst>
          </p:cNvPr>
          <p:cNvSpPr>
            <a:spLocks noGrp="1"/>
          </p:cNvSpPr>
          <p:nvPr/>
        </p:nvSpPr>
        <p:spPr>
          <a:xfrm>
            <a:off x="8305800" y="516255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Accuracy 容易被誤導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491258-084E-4EDC-8B11-4D6636BD3F2E}"/>
              </a:ext>
            </a:extLst>
          </p:cNvPr>
          <p:cNvSpPr>
            <a:spLocks noGrp="1"/>
          </p:cNvSpPr>
          <p:nvPr/>
        </p:nvSpPr>
        <p:spPr>
          <a:xfrm>
            <a:off x="8096250" y="5734050"/>
            <a:ext cx="314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因此評估重點必須放在 Recall、Precision、F1/F2 與混淆矩陣。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94F556-A9FD-4DB0-9D51-EB488808AB08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471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238458A-68B0-4486-AEBA-160B5886A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DB04C3-ECA8-47D9-BE57-8833603CFF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8613C3-692D-43C7-9EF0-5EFF5D46FC3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Exploratory Visualization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3B0AF-81B4-4BA6-BB84-F786E2DBBC49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視覺化顯示：風險集中在年齡與血糖等特徵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9CDAA8-FE1E-4D52-939E-AF7C54102477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C44117-693D-4A53-BAF3-E41B8304A716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72961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247900"/>
            <a:ext cx="7143750" cy="35623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F6AD2B-275A-4C83-87B9-B5B59044C630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3143250" cy="430530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5FC3C4-D961-405A-BE8E-934CDBD0FAA6}"/>
              </a:ext>
            </a:extLst>
          </p:cNvPr>
          <p:cNvSpPr>
            <a:spLocks noGrp="1"/>
          </p:cNvSpPr>
          <p:nvPr/>
        </p:nvSpPr>
        <p:spPr>
          <a:xfrm>
            <a:off x="8362950" y="1981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觀察到的趨勢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72CFE6-1512-408B-8CA7-8EE8C7C6807C}"/>
              </a:ext>
            </a:extLst>
          </p:cNvPr>
          <p:cNvSpPr>
            <a:spLocks noGrp="1"/>
          </p:cNvSpPr>
          <p:nvPr/>
        </p:nvSpPr>
        <p:spPr>
          <a:xfrm>
            <a:off x="8362950" y="261937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566582-5E45-40BE-91DE-46F48BCB6776}"/>
              </a:ext>
            </a:extLst>
          </p:cNvPr>
          <p:cNvSpPr>
            <a:spLocks noGrp="1"/>
          </p:cNvSpPr>
          <p:nvPr/>
        </p:nvSpPr>
        <p:spPr>
          <a:xfrm>
            <a:off x="9010650" y="254317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中風案例在高年齡區間較集中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F3AD82-22D8-4208-A0A7-31270B73CA44}"/>
              </a:ext>
            </a:extLst>
          </p:cNvPr>
          <p:cNvSpPr>
            <a:spLocks noGrp="1"/>
          </p:cNvSpPr>
          <p:nvPr/>
        </p:nvSpPr>
        <p:spPr>
          <a:xfrm>
            <a:off x="8362950" y="359092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BC08F6-90DC-4E93-AB7C-9C32F97110F2}"/>
              </a:ext>
            </a:extLst>
          </p:cNvPr>
          <p:cNvSpPr>
            <a:spLocks noGrp="1"/>
          </p:cNvSpPr>
          <p:nvPr/>
        </p:nvSpPr>
        <p:spPr>
          <a:xfrm>
            <a:off x="9010650" y="351472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平均血糖較高時，風險分布更明顯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C82912-3992-408C-918D-B88CFAF0A715}"/>
              </a:ext>
            </a:extLst>
          </p:cNvPr>
          <p:cNvSpPr>
            <a:spLocks noGrp="1"/>
          </p:cNvSpPr>
          <p:nvPr/>
        </p:nvSpPr>
        <p:spPr>
          <a:xfrm>
            <a:off x="8362950" y="456247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30B5C9-29B3-429F-B057-4619012C9579}"/>
              </a:ext>
            </a:extLst>
          </p:cNvPr>
          <p:cNvSpPr>
            <a:spLocks noGrp="1"/>
          </p:cNvSpPr>
          <p:nvPr/>
        </p:nvSpPr>
        <p:spPr>
          <a:xfrm>
            <a:off x="9010650" y="448627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單一特徵不足以診斷，需模型整合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1F0EB8-7673-40DA-9B15-E3EE0B66B1F4}"/>
              </a:ext>
            </a:extLst>
          </p:cNvPr>
          <p:cNvSpPr>
            <a:spLocks noGrp="1"/>
          </p:cNvSpPr>
          <p:nvPr/>
        </p:nvSpPr>
        <p:spPr>
          <a:xfrm>
            <a:off x="8334375" y="5353050"/>
            <a:ext cx="26193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rPr>
              <a:t>隱藏趨勢不是「某特徵決定中風」，而是多個弱訊號共同累積。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254F9D-3008-4AD0-9D7C-1F796FA4E110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244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5D4EBB2-FD68-4B81-B08B-6A28896EC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52B01A-EC0C-46B8-911D-59354D0C59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E033E-F429-4FC5-B6DB-E04617A5003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Missing Value &amp; Correlation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6AEDD0-E172-4117-B088-9AAC4BBB4E40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缺失值與相關性：先修補資料，再避免過度解讀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FE0DA-0376-4F0F-86CF-9AC5C07ECC56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CCB701-4A6D-440A-9032-55EC0BF2E1F9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6915150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" y="1695450"/>
            <a:ext cx="5554218" cy="4267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B59213-32A1-4245-8E94-59901089D816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5052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423B07-08E1-4C05-A788-5DACEDFA9E66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B0488C-2B1B-493A-98E3-0F8DBC09DEBF}"/>
              </a:ext>
            </a:extLst>
          </p:cNvPr>
          <p:cNvSpPr>
            <a:spLocks noGrp="1"/>
          </p:cNvSpPr>
          <p:nvPr/>
        </p:nvSpPr>
        <p:spPr>
          <a:xfrm>
            <a:off x="7924800" y="1895475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BMI 缺失值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F8A800-EBE9-4091-8166-0C490E0A3CA8}"/>
              </a:ext>
            </a:extLst>
          </p:cNvPr>
          <p:cNvSpPr>
            <a:spLocks noGrp="1"/>
          </p:cNvSpPr>
          <p:nvPr/>
        </p:nvSpPr>
        <p:spPr>
          <a:xfrm>
            <a:off x="7924800" y="2133600"/>
            <a:ext cx="3181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201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E88E65-3947-4E16-A838-07CFE68488DE}"/>
              </a:ext>
            </a:extLst>
          </p:cNvPr>
          <p:cNvSpPr>
            <a:spLocks noGrp="1"/>
          </p:cNvSpPr>
          <p:nvPr/>
        </p:nvSpPr>
        <p:spPr>
          <a:xfrm>
            <a:off x="7924800" y="2552700"/>
            <a:ext cx="3181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使用訓練資料中位數補值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29B995-5C8F-432C-9FFD-62F8B5986A25}"/>
              </a:ext>
            </a:extLst>
          </p:cNvPr>
          <p:cNvSpPr>
            <a:spLocks noGrp="1"/>
          </p:cNvSpPr>
          <p:nvPr/>
        </p:nvSpPr>
        <p:spPr>
          <a:xfrm>
            <a:off x="7715250" y="3133725"/>
            <a:ext cx="3505200" cy="28289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5B8839-D4F2-4415-BE80-5FEC56FDF348}"/>
              </a:ext>
            </a:extLst>
          </p:cNvPr>
          <p:cNvSpPr>
            <a:spLocks noGrp="1"/>
          </p:cNvSpPr>
          <p:nvPr/>
        </p:nvSpPr>
        <p:spPr>
          <a:xfrm>
            <a:off x="7962900" y="3362325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相關性分析結論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9518E8-EB4D-4741-856A-93B4FB3153BE}"/>
              </a:ext>
            </a:extLst>
          </p:cNvPr>
          <p:cNvSpPr>
            <a:spLocks noGrp="1"/>
          </p:cNvSpPr>
          <p:nvPr/>
        </p:nvSpPr>
        <p:spPr>
          <a:xfrm>
            <a:off x="7962900" y="3819525"/>
            <a:ext cx="285750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年齡、血糖與中風呈較明顯正向關係</a:t>
            </a:r>
          </a:p>
          <a:p>
            <a:endParaRPr sz="1425" b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相關性不代表因果關係</a:t>
            </a:r>
          </a:p>
          <a:p>
            <a:endParaRPr sz="1425" b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類別特徵仍需透過 One-Hot 納入模型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3FF19E-7033-4248-B96A-7CB2D3B00FE2}"/>
              </a:ext>
            </a:extLst>
          </p:cNvPr>
          <p:cNvSpPr>
            <a:spLocks noGrp="1"/>
          </p:cNvSpPr>
          <p:nvPr/>
        </p:nvSpPr>
        <p:spPr>
          <a:xfrm>
            <a:off x="7962900" y="5600700"/>
            <a:ext cx="2857500" cy="47625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30AE89-1EED-47B0-965D-672CEAD2DB0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398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C9D0C86-ED1B-4C3C-9A96-AA8DC78F67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4315C-9372-4C94-BD74-A4C15D3626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094C0-FB55-4877-B082-D19FA6405D1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Encoding &amp; Normalization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419A4A-71E4-4E30-8A4A-34DCCF53B585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 讓前處理只從訓練資料學習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53C792-CA18-4241-8A9D-92B478EC7A49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F83BB5-F7D4-4772-8B09-EDA06D6F9201}"/>
              </a:ext>
            </a:extLst>
          </p:cNvPr>
          <p:cNvSpPr>
            <a:spLocks noGrp="1"/>
          </p:cNvSpPr>
          <p:nvPr/>
        </p:nvSpPr>
        <p:spPr>
          <a:xfrm>
            <a:off x="438150" y="1619250"/>
            <a:ext cx="7334250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828800"/>
            <a:ext cx="7181850" cy="413384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172D0BF-5506-4B73-9659-CF05345AA07E}"/>
              </a:ext>
            </a:extLst>
          </p:cNvPr>
          <p:cNvSpPr>
            <a:spLocks noGrp="1"/>
          </p:cNvSpPr>
          <p:nvPr/>
        </p:nvSpPr>
        <p:spPr>
          <a:xfrm>
            <a:off x="7934325" y="1619250"/>
            <a:ext cx="3343275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61C12A-87D3-4F29-8D0A-FBEC60791E0D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647700" cy="2857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AC2AC9-0919-4B98-845D-26E53D489F5F}"/>
              </a:ext>
            </a:extLst>
          </p:cNvPr>
          <p:cNvSpPr>
            <a:spLocks noGrp="1"/>
          </p:cNvSpPr>
          <p:nvPr/>
        </p:nvSpPr>
        <p:spPr>
          <a:xfrm>
            <a:off x="9096375" y="1971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Median Imputation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3B726B-3464-4629-9FBF-37BD7064A7CC}"/>
              </a:ext>
            </a:extLst>
          </p:cNvPr>
          <p:cNvSpPr>
            <a:spLocks noGrp="1"/>
          </p:cNvSpPr>
          <p:nvPr/>
        </p:nvSpPr>
        <p:spPr>
          <a:xfrm>
            <a:off x="9096375" y="2324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StandardScaler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EFAC0C-61F7-49A7-A922-B79B59A152FD}"/>
              </a:ext>
            </a:extLst>
          </p:cNvPr>
          <p:cNvSpPr>
            <a:spLocks noGrp="1"/>
          </p:cNvSpPr>
          <p:nvPr/>
        </p:nvSpPr>
        <p:spPr>
          <a:xfrm>
            <a:off x="8286750" y="2895600"/>
            <a:ext cx="26860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A43F77-2EEF-47A6-B661-75E02660900C}"/>
              </a:ext>
            </a:extLst>
          </p:cNvPr>
          <p:cNvSpPr>
            <a:spLocks noGrp="1"/>
          </p:cNvSpPr>
          <p:nvPr/>
        </p:nvSpPr>
        <p:spPr>
          <a:xfrm>
            <a:off x="8286750" y="3143250"/>
            <a:ext cx="647700" cy="2857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類別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CEE802-3E5E-462E-9E96-EF5B228B1313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Most-frequent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785045-4113-4D25-9436-345DFCA75822}"/>
              </a:ext>
            </a:extLst>
          </p:cNvPr>
          <p:cNvSpPr>
            <a:spLocks noGrp="1"/>
          </p:cNvSpPr>
          <p:nvPr/>
        </p:nvSpPr>
        <p:spPr>
          <a:xfrm>
            <a:off x="9096375" y="3467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One-Hot Encoding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600180-33E0-4F0C-83D7-603A83871A01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26860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145869-4CD4-4BF5-B640-04CF9A105CC8}"/>
              </a:ext>
            </a:extLst>
          </p:cNvPr>
          <p:cNvSpPr>
            <a:spLocks noGrp="1"/>
          </p:cNvSpPr>
          <p:nvPr/>
        </p:nvSpPr>
        <p:spPr>
          <a:xfrm>
            <a:off x="8286750" y="4286250"/>
            <a:ext cx="647700" cy="2857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8D0467-D4CD-4F40-B290-D539538EBA21}"/>
              </a:ext>
            </a:extLst>
          </p:cNvPr>
          <p:cNvSpPr>
            <a:spLocks noGrp="1"/>
          </p:cNvSpPr>
          <p:nvPr/>
        </p:nvSpPr>
        <p:spPr>
          <a:xfrm>
            <a:off x="9096375" y="4257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10 個原始特徵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D915D8-2F90-416B-9C75-BE5954F8C75A}"/>
              </a:ext>
            </a:extLst>
          </p:cNvPr>
          <p:cNvSpPr>
            <a:spLocks noGrp="1"/>
          </p:cNvSpPr>
          <p:nvPr/>
        </p:nvSpPr>
        <p:spPr>
          <a:xfrm>
            <a:off x="9096375" y="4610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21 個轉換特徵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C25486-F24F-4A3C-9E90-476CB64917EF}"/>
              </a:ext>
            </a:extLst>
          </p:cNvPr>
          <p:cNvSpPr>
            <a:spLocks noGrp="1"/>
          </p:cNvSpPr>
          <p:nvPr/>
        </p:nvSpPr>
        <p:spPr>
          <a:xfrm>
            <a:off x="8153400" y="5362575"/>
            <a:ext cx="2952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重點：補值、編碼、標準化與模型一起交叉驗證，降低資料洩漏風險</a:t>
            </a:r>
            <a:r>
              <a:rPr sz="127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414002-C1A5-4A3E-95DD-5D12C3B959B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53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426C94E6-361D-4AB8-9D3F-E7C0062B5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732EA3-51D5-4834-83A5-96DC9E83F6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FA0952-A8F2-42C3-944F-B192CC9834E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Neural Network Workflow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34B6CD-D1FC-42B9-A27A-60857CD9D887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神經網路流程：測試集只在最後一次打開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5506D2-1935-4147-B417-25A61F67AB8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D5A6D9-B4E3-4CCC-8057-832A08B4CED7}"/>
              </a:ext>
            </a:extLst>
          </p:cNvPr>
          <p:cNvSpPr>
            <a:spLocks noGrp="1"/>
          </p:cNvSpPr>
          <p:nvPr/>
        </p:nvSpPr>
        <p:spPr>
          <a:xfrm>
            <a:off x="5715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32C807-E742-4CC8-B8AE-942B30F77193}"/>
              </a:ext>
            </a:extLst>
          </p:cNvPr>
          <p:cNvSpPr>
            <a:spLocks noGrp="1"/>
          </p:cNvSpPr>
          <p:nvPr/>
        </p:nvSpPr>
        <p:spPr>
          <a:xfrm>
            <a:off x="742950" y="2505075"/>
            <a:ext cx="49530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FA205E-092F-43AC-AF6F-D077A10B79C5}"/>
              </a:ext>
            </a:extLst>
          </p:cNvPr>
          <p:cNvSpPr>
            <a:spLocks noGrp="1"/>
          </p:cNvSpPr>
          <p:nvPr/>
        </p:nvSpPr>
        <p:spPr>
          <a:xfrm>
            <a:off x="8191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A8E9D7-C438-48E4-8B10-60450749E46E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原始資料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287569-655B-4A03-A54E-D27F0EF1C748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5,110 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909A8B-7B96-4FAA-B08F-DE1F15CB26C1}"/>
              </a:ext>
            </a:extLst>
          </p:cNvPr>
          <p:cNvSpPr>
            <a:spLocks noGrp="1"/>
          </p:cNvSpPr>
          <p:nvPr/>
        </p:nvSpPr>
        <p:spPr>
          <a:xfrm>
            <a:off x="21526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91CF87-ED0E-4A61-932D-B070CF29DFC9}"/>
              </a:ext>
            </a:extLst>
          </p:cNvPr>
          <p:cNvSpPr>
            <a:spLocks noGrp="1"/>
          </p:cNvSpPr>
          <p:nvPr/>
        </p:nvSpPr>
        <p:spPr>
          <a:xfrm>
            <a:off x="24574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02D25D-1F37-4100-BBCF-78149C5E743B}"/>
              </a:ext>
            </a:extLst>
          </p:cNvPr>
          <p:cNvSpPr>
            <a:spLocks noGrp="1"/>
          </p:cNvSpPr>
          <p:nvPr/>
        </p:nvSpPr>
        <p:spPr>
          <a:xfrm>
            <a:off x="2628900" y="2505075"/>
            <a:ext cx="495300" cy="323850"/>
          </a:xfrm>
          <a:prstGeom prst="rect">
            <a:avLst/>
          </a:prstGeom>
          <a:solidFill>
            <a:srgbClr val="2A8C91"/>
          </a:solidFill>
          <a:ln w="0">
            <a:solidFill>
              <a:srgbClr val="2A8C9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B0D06A-914F-4B24-9197-BBF9211D0659}"/>
              </a:ext>
            </a:extLst>
          </p:cNvPr>
          <p:cNvSpPr>
            <a:spLocks noGrp="1"/>
          </p:cNvSpPr>
          <p:nvPr/>
        </p:nvSpPr>
        <p:spPr>
          <a:xfrm>
            <a:off x="27051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168ECD-B728-4D4F-8671-4BBFDB157331}"/>
              </a:ext>
            </a:extLst>
          </p:cNvPr>
          <p:cNvSpPr>
            <a:spLocks noGrp="1"/>
          </p:cNvSpPr>
          <p:nvPr/>
        </p:nvSpPr>
        <p:spPr>
          <a:xfrm>
            <a:off x="26289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分層切分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A329C4-7581-4A88-A46E-D8DF73AA55EA}"/>
              </a:ext>
            </a:extLst>
          </p:cNvPr>
          <p:cNvSpPr>
            <a:spLocks noGrp="1"/>
          </p:cNvSpPr>
          <p:nvPr/>
        </p:nvSpPr>
        <p:spPr>
          <a:xfrm>
            <a:off x="26289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Train 4,088</a:t>
            </a:r>
          </a:p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Test 1,022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F3E9C0-7C93-4AD3-8C0A-D9A6884A2929}"/>
              </a:ext>
            </a:extLst>
          </p:cNvPr>
          <p:cNvSpPr>
            <a:spLocks noGrp="1"/>
          </p:cNvSpPr>
          <p:nvPr/>
        </p:nvSpPr>
        <p:spPr>
          <a:xfrm>
            <a:off x="403860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84A40E-8321-469A-9F0A-D5E22E089278}"/>
              </a:ext>
            </a:extLst>
          </p:cNvPr>
          <p:cNvSpPr>
            <a:spLocks noGrp="1"/>
          </p:cNvSpPr>
          <p:nvPr/>
        </p:nvSpPr>
        <p:spPr>
          <a:xfrm>
            <a:off x="43434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A54803-45C5-43CA-B041-323D61EB7913}"/>
              </a:ext>
            </a:extLst>
          </p:cNvPr>
          <p:cNvSpPr>
            <a:spLocks noGrp="1"/>
          </p:cNvSpPr>
          <p:nvPr/>
        </p:nvSpPr>
        <p:spPr>
          <a:xfrm>
            <a:off x="4514850" y="2505075"/>
            <a:ext cx="49530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C06391-27A1-4F09-88A5-BDAB95676A1C}"/>
              </a:ext>
            </a:extLst>
          </p:cNvPr>
          <p:cNvSpPr>
            <a:spLocks noGrp="1"/>
          </p:cNvSpPr>
          <p:nvPr/>
        </p:nvSpPr>
        <p:spPr>
          <a:xfrm>
            <a:off x="45910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5F75D1-9727-4B83-ADBD-DBFFDEF40011}"/>
              </a:ext>
            </a:extLst>
          </p:cNvPr>
          <p:cNvSpPr>
            <a:spLocks noGrp="1"/>
          </p:cNvSpPr>
          <p:nvPr/>
        </p:nvSpPr>
        <p:spPr>
          <a:xfrm>
            <a:off x="45148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10CD6C-75EE-4CA8-ADAA-44FE40EDCEA5}"/>
              </a:ext>
            </a:extLst>
          </p:cNvPr>
          <p:cNvSpPr>
            <a:spLocks noGrp="1"/>
          </p:cNvSpPr>
          <p:nvPr/>
        </p:nvSpPr>
        <p:spPr>
          <a:xfrm>
            <a:off x="45148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補值・編碼・標準化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1A9FD5-30E3-46CE-BF8C-704ED4908798}"/>
              </a:ext>
            </a:extLst>
          </p:cNvPr>
          <p:cNvSpPr>
            <a:spLocks noGrp="1"/>
          </p:cNvSpPr>
          <p:nvPr/>
        </p:nvSpPr>
        <p:spPr>
          <a:xfrm>
            <a:off x="59245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153252-22DC-4BAF-B9E2-ECEED0EFD75C}"/>
              </a:ext>
            </a:extLst>
          </p:cNvPr>
          <p:cNvSpPr>
            <a:spLocks noGrp="1"/>
          </p:cNvSpPr>
          <p:nvPr/>
        </p:nvSpPr>
        <p:spPr>
          <a:xfrm>
            <a:off x="62293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26340F-3358-46D0-8041-3D019D86CBC3}"/>
              </a:ext>
            </a:extLst>
          </p:cNvPr>
          <p:cNvSpPr>
            <a:spLocks noGrp="1"/>
          </p:cNvSpPr>
          <p:nvPr/>
        </p:nvSpPr>
        <p:spPr>
          <a:xfrm>
            <a:off x="6400800" y="2505075"/>
            <a:ext cx="495300" cy="323850"/>
          </a:xfrm>
          <a:prstGeom prst="rect">
            <a:avLst/>
          </a:prstGeom>
          <a:solidFill>
            <a:srgbClr val="E3A83B"/>
          </a:solidFill>
          <a:ln w="0">
            <a:solidFill>
              <a:srgbClr val="E3A83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22CF47-97D6-434F-82B5-0CF6E059CDFA}"/>
              </a:ext>
            </a:extLst>
          </p:cNvPr>
          <p:cNvSpPr>
            <a:spLocks noGrp="1"/>
          </p:cNvSpPr>
          <p:nvPr/>
        </p:nvSpPr>
        <p:spPr>
          <a:xfrm>
            <a:off x="64770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C6BFDA-8943-4498-B474-02CBBE2AF714}"/>
              </a:ext>
            </a:extLst>
          </p:cNvPr>
          <p:cNvSpPr>
            <a:spLocks noGrp="1"/>
          </p:cNvSpPr>
          <p:nvPr/>
        </p:nvSpPr>
        <p:spPr>
          <a:xfrm>
            <a:off x="64008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搜尋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2DDFF9-4E72-4B6F-80F3-687E9702BC24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3-fold・PR-AUC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4E9DC6-D4FF-4D57-9B04-2CE4F5B07A6D}"/>
              </a:ext>
            </a:extLst>
          </p:cNvPr>
          <p:cNvSpPr>
            <a:spLocks noGrp="1"/>
          </p:cNvSpPr>
          <p:nvPr/>
        </p:nvSpPr>
        <p:spPr>
          <a:xfrm>
            <a:off x="781050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E0A21B-B980-4423-8E43-970B9A660F23}"/>
              </a:ext>
            </a:extLst>
          </p:cNvPr>
          <p:cNvSpPr>
            <a:spLocks noGrp="1"/>
          </p:cNvSpPr>
          <p:nvPr/>
        </p:nvSpPr>
        <p:spPr>
          <a:xfrm>
            <a:off x="81153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5CC7BD-80D0-44E8-A835-140F2E380758}"/>
              </a:ext>
            </a:extLst>
          </p:cNvPr>
          <p:cNvSpPr>
            <a:spLocks noGrp="1"/>
          </p:cNvSpPr>
          <p:nvPr/>
        </p:nvSpPr>
        <p:spPr>
          <a:xfrm>
            <a:off x="8286750" y="2505075"/>
            <a:ext cx="49530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E633A5-8B0D-4FBC-9A42-5FAC76C88BC9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6C0D77-6D8B-422D-B824-9F04CF904D51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60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5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sz="15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門檻</a:t>
            </a:r>
            <a:endParaRPr sz="1500" b="1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C2B504-2EC3-4659-A504-66FB4F1678E8}"/>
              </a:ext>
            </a:extLst>
          </p:cNvPr>
          <p:cNvSpPr>
            <a:spLocks noGrp="1"/>
          </p:cNvSpPr>
          <p:nvPr/>
        </p:nvSpPr>
        <p:spPr>
          <a:xfrm>
            <a:off x="82867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最大化 F2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2A6370-1BF5-4023-80D4-46F7C9FDDDD6}"/>
              </a:ext>
            </a:extLst>
          </p:cNvPr>
          <p:cNvSpPr>
            <a:spLocks noGrp="1"/>
          </p:cNvSpPr>
          <p:nvPr/>
        </p:nvSpPr>
        <p:spPr>
          <a:xfrm>
            <a:off x="96964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BE1FEB-2ED9-46A3-957A-CDA5B6F2C244}"/>
              </a:ext>
            </a:extLst>
          </p:cNvPr>
          <p:cNvSpPr>
            <a:spLocks noGrp="1"/>
          </p:cNvSpPr>
          <p:nvPr/>
        </p:nvSpPr>
        <p:spPr>
          <a:xfrm>
            <a:off x="100012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8B1B06-D07B-4C2F-B5E0-0629C4CB2469}"/>
              </a:ext>
            </a:extLst>
          </p:cNvPr>
          <p:cNvSpPr>
            <a:spLocks noGrp="1"/>
          </p:cNvSpPr>
          <p:nvPr/>
        </p:nvSpPr>
        <p:spPr>
          <a:xfrm>
            <a:off x="10172700" y="2505075"/>
            <a:ext cx="495300" cy="323850"/>
          </a:xfrm>
          <a:prstGeom prst="rect">
            <a:avLst/>
          </a:prstGeom>
          <a:solidFill>
            <a:srgbClr val="142536"/>
          </a:solidFill>
          <a:ln w="0">
            <a:solidFill>
              <a:srgbClr val="14253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76E3EE-765C-490D-98F6-B3E58003544F}"/>
              </a:ext>
            </a:extLst>
          </p:cNvPr>
          <p:cNvSpPr>
            <a:spLocks noGrp="1"/>
          </p:cNvSpPr>
          <p:nvPr/>
        </p:nvSpPr>
        <p:spPr>
          <a:xfrm>
            <a:off x="102489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05F90B-7B5D-4281-90F9-96093305D907}"/>
              </a:ext>
            </a:extLst>
          </p:cNvPr>
          <p:cNvSpPr>
            <a:spLocks noGrp="1"/>
          </p:cNvSpPr>
          <p:nvPr/>
        </p:nvSpPr>
        <p:spPr>
          <a:xfrm>
            <a:off x="101727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最終測試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7E303F-DF3B-4371-856E-B99C463FF727}"/>
              </a:ext>
            </a:extLst>
          </p:cNvPr>
          <p:cNvSpPr>
            <a:spLocks noGrp="1"/>
          </p:cNvSpPr>
          <p:nvPr/>
        </p:nvSpPr>
        <p:spPr>
          <a:xfrm>
            <a:off x="101727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一次性評估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323D01-7DFF-4D82-AE7D-97323688D681}"/>
              </a:ext>
            </a:extLst>
          </p:cNvPr>
          <p:cNvSpPr>
            <a:spLocks noGrp="1"/>
          </p:cNvSpPr>
          <p:nvPr/>
        </p:nvSpPr>
        <p:spPr>
          <a:xfrm>
            <a:off x="1524000" y="4695825"/>
            <a:ext cx="9144000" cy="609600"/>
          </a:xfrm>
          <a:prstGeom prst="rect">
            <a:avLst/>
          </a:prstGeom>
          <a:solidFill>
            <a:srgbClr val="E3F2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37D043C-11BC-4A6C-98C6-8AACF86D03A8}"/>
              </a:ext>
            </a:extLst>
          </p:cNvPr>
          <p:cNvSpPr>
            <a:spLocks noGrp="1"/>
          </p:cNvSpPr>
          <p:nvPr/>
        </p:nvSpPr>
        <p:spPr>
          <a:xfrm>
            <a:off x="1762125" y="4829175"/>
            <a:ext cx="866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訓練階段決定 MLP 架構、正則化與門檻，測試集只負責回答：神經網路能否泛化？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003D54-FE7D-464E-83FB-AA85A01E0FCE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187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87CC3542-AF32-4637-BDBB-9C7DFDAEA4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5BDD6B-C780-401F-A079-3A8368F5F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91819D-9629-4023-AB20-0C1E17BF3FA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Neural Network Design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2BAFD2-3E48-4DF6-BDE3-DCB3E0D9FDF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神經網路模型設計：以 MLP 處理表格型中風資料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3F1A8B-AF2A-466B-8B3F-6C033DF669F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9DC9BB-ADEB-4246-B4AD-3E8AE4C77A6F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041124-3E8F-4917-9478-2383263F3280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2036F3-3568-41E8-AF42-BDD1C406D94A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主模型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43E086-ECC2-4DD7-9843-8933D6C4D4B2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MLP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3E54A9-2998-49C3-AE6A-76CFF14DA6EC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多層感知器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8DF19-7DD5-462E-8EEE-F8C6D04DE984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2EEB25-DF49-424E-A9EE-1EB13530ACA2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840BF8-A532-4A4E-A510-DEDC123C7393}"/>
              </a:ext>
            </a:extLst>
          </p:cNvPr>
          <p:cNvSpPr>
            <a:spLocks noGrp="1"/>
          </p:cNvSpPr>
          <p:nvPr/>
        </p:nvSpPr>
        <p:spPr>
          <a:xfrm>
            <a:off x="35433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資料型態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BE6086-F061-41E1-83D5-11952B0D1BF9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Tabular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BCCBA6-3D11-4031-8BEC-A9BAB99C7269}"/>
              </a:ext>
            </a:extLst>
          </p:cNvPr>
          <p:cNvSpPr>
            <a:spLocks noGrp="1"/>
          </p:cNvSpPr>
          <p:nvPr/>
        </p:nvSpPr>
        <p:spPr>
          <a:xfrm>
            <a:off x="35433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非影像、非序列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D9046E-A603-49DF-A140-DBBB7100ADF1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22B028-B3AB-441E-8DB7-7DB4078F6CA5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EA7D06-996A-440D-B922-4F126FA77117}"/>
              </a:ext>
            </a:extLst>
          </p:cNvPr>
          <p:cNvSpPr>
            <a:spLocks noGrp="1"/>
          </p:cNvSpPr>
          <p:nvPr/>
        </p:nvSpPr>
        <p:spPr>
          <a:xfrm>
            <a:off x="62484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調參目標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39FD96-2A3E-43CC-9339-9224DCF2F98D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PR-AUC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9FFCC2-B0AD-4C7D-87F8-FB54B3BC9F3E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適合不平衡資料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41F491-6546-4176-B8D1-EA569906BB22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B1A678-CF05-4005-95D2-1565B4021DE0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DB8208-88B0-443E-B74D-FA7BCC612150}"/>
              </a:ext>
            </a:extLst>
          </p:cNvPr>
          <p:cNvSpPr>
            <a:spLocks noGrp="1"/>
          </p:cNvSpPr>
          <p:nvPr/>
        </p:nvSpPr>
        <p:spPr>
          <a:xfrm>
            <a:off x="89535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決策目標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B61CDF-B453-41FE-8ADF-22493C7C2104}"/>
              </a:ext>
            </a:extLst>
          </p:cNvPr>
          <p:cNvSpPr>
            <a:spLocks noGrp="1"/>
          </p:cNvSpPr>
          <p:nvPr/>
        </p:nvSpPr>
        <p:spPr>
          <a:xfrm>
            <a:off x="89535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F2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71498C-42FC-4132-879D-18A2E3959BE9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比 F1 更重視 Recall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FED326-6698-42FB-A340-E98D8EE81446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4857750" cy="2038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9BA960-1783-4619-8063-2B2D8AA3378B}"/>
              </a:ext>
            </a:extLst>
          </p:cNvPr>
          <p:cNvSpPr>
            <a:spLocks noGrp="1"/>
          </p:cNvSpPr>
          <p:nvPr/>
        </p:nvSpPr>
        <p:spPr>
          <a:xfrm>
            <a:off x="1123950" y="35814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為什麼用 MLP，不用 CNN/RNN？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1A9666-9AD2-4AA1-AA8A-D0B81A414BAE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EDAD3C-88A8-485D-BD88-376B75F44A52}"/>
              </a:ext>
            </a:extLst>
          </p:cNvPr>
          <p:cNvSpPr>
            <a:spLocks noGrp="1"/>
          </p:cNvSpPr>
          <p:nvPr/>
        </p:nvSpPr>
        <p:spPr>
          <a:xfrm>
            <a:off x="1409700" y="4095750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資料是病患欄位，不是圖片，所以不需要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CNN。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F62C72-61D5-46C7-9918-EABC3FEDC865}"/>
              </a:ext>
            </a:extLst>
          </p:cNvPr>
          <p:cNvSpPr>
            <a:spLocks noGrp="1"/>
          </p:cNvSpPr>
          <p:nvPr/>
        </p:nvSpPr>
        <p:spPr>
          <a:xfrm>
            <a:off x="1181100" y="46005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014003-8385-426E-A923-3D77EFCE87F6}"/>
              </a:ext>
            </a:extLst>
          </p:cNvPr>
          <p:cNvSpPr>
            <a:spLocks noGrp="1"/>
          </p:cNvSpPr>
          <p:nvPr/>
        </p:nvSpPr>
        <p:spPr>
          <a:xfrm>
            <a:off x="1409700" y="4514850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資料沒有時間序列順序，所以不需要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RNN/LSTM。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070FB4-4117-4A12-AF94-389D31484BA4}"/>
              </a:ext>
            </a:extLst>
          </p:cNvPr>
          <p:cNvSpPr>
            <a:spLocks noGrp="1"/>
          </p:cNvSpPr>
          <p:nvPr/>
        </p:nvSpPr>
        <p:spPr>
          <a:xfrm>
            <a:off x="1181100" y="50196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A05F46-3C6F-46D3-8963-D47BE5EBDB04}"/>
              </a:ext>
            </a:extLst>
          </p:cNvPr>
          <p:cNvSpPr>
            <a:spLocks noGrp="1"/>
          </p:cNvSpPr>
          <p:nvPr/>
        </p:nvSpPr>
        <p:spPr>
          <a:xfrm>
            <a:off x="1409700" y="49339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可學習欄位之間的非線性組合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7C0CDC-97A9-49EE-8FC2-62CEE47A1E56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4857750" cy="2038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E46E19-3002-4FCB-8C19-FD4D2E201BD5}"/>
              </a:ext>
            </a:extLst>
          </p:cNvPr>
          <p:cNvSpPr>
            <a:spLocks noGrp="1"/>
          </p:cNvSpPr>
          <p:nvPr/>
        </p:nvSpPr>
        <p:spPr>
          <a:xfrm>
            <a:off x="6838950" y="35814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延伸重點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1BF141-0B6B-4AD5-B479-D52A0D29881B}"/>
              </a:ext>
            </a:extLst>
          </p:cNvPr>
          <p:cNvSpPr>
            <a:spLocks noGrp="1"/>
          </p:cNvSpPr>
          <p:nvPr/>
        </p:nvSpPr>
        <p:spPr>
          <a:xfrm>
            <a:off x="6896100" y="41814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34974F-3C15-4E83-97D7-4DB126047FB4}"/>
              </a:ext>
            </a:extLst>
          </p:cNvPr>
          <p:cNvSpPr>
            <a:spLocks noGrp="1"/>
          </p:cNvSpPr>
          <p:nvPr/>
        </p:nvSpPr>
        <p:spPr>
          <a:xfrm>
            <a:off x="7124700" y="4095750"/>
            <a:ext cx="4152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沿用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Pipeline：補值、One-hot、標準化都在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CV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內完成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8D57A8E-F1DF-4CCA-9A9C-6E420DB53B8A}"/>
              </a:ext>
            </a:extLst>
          </p:cNvPr>
          <p:cNvSpPr>
            <a:spLocks noGrp="1"/>
          </p:cNvSpPr>
          <p:nvPr/>
        </p:nvSpPr>
        <p:spPr>
          <a:xfrm>
            <a:off x="6896100" y="46005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92C2B1-47A6-4BC1-B4EB-07F1196C1288}"/>
              </a:ext>
            </a:extLst>
          </p:cNvPr>
          <p:cNvSpPr>
            <a:spLocks noGrp="1"/>
          </p:cNvSpPr>
          <p:nvPr/>
        </p:nvSpPr>
        <p:spPr>
          <a:xfrm>
            <a:off x="7124700" y="4514850"/>
            <a:ext cx="388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用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sample_weight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處理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stroke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類別稀少問題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878653B-5B60-4B23-9EF3-FF68FC6B7CD6}"/>
              </a:ext>
            </a:extLst>
          </p:cNvPr>
          <p:cNvSpPr>
            <a:spLocks noGrp="1"/>
          </p:cNvSpPr>
          <p:nvPr/>
        </p:nvSpPr>
        <p:spPr>
          <a:xfrm>
            <a:off x="6896100" y="50196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5C9A4D-90A2-457A-914A-B4A5E1C23171}"/>
              </a:ext>
            </a:extLst>
          </p:cNvPr>
          <p:cNvSpPr>
            <a:spLocks noGrp="1"/>
          </p:cNvSpPr>
          <p:nvPr/>
        </p:nvSpPr>
        <p:spPr>
          <a:xfrm>
            <a:off x="7124699" y="4933950"/>
            <a:ext cx="39338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最後再用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OOF F2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選出較適合醫療任務的門檻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318A69-8AB0-422E-B2DC-335D20EEE267}"/>
              </a:ext>
            </a:extLst>
          </p:cNvPr>
          <p:cNvSpPr>
            <a:spLocks noGrp="1"/>
          </p:cNvSpPr>
          <p:nvPr/>
        </p:nvSpPr>
        <p:spPr>
          <a:xfrm>
            <a:off x="2057400" y="5829300"/>
            <a:ext cx="8096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期末主軸：用神經網路作為主要模型，Logistic Regression 保留為可解釋基準。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FA19948-4411-4A18-9AC6-5654ECBC2849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688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A2398A8E-D5C5-48C4-AFF3-95533489EC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72E7C1-310C-47A7-84F3-6989A325FF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6E98F1-6171-4107-8C73-6707A2B493E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E4473D"/>
                </a:solidFill>
                <a:latin typeface="Aptos"/>
                <a:ea typeface="Aptos"/>
                <a:cs typeface="Aptos"/>
              </a:rPr>
              <a:t>NN Hyperparameter Tuning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100C2B-8EBF-457D-8D06-23BD34B7ED2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</a:t>
            </a:r>
            <a:r>
              <a:rPr sz="3000" b="1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GridSearchCV：搜尋神經網路架構與正則化</a:t>
            </a:r>
            <a:endParaRPr sz="3000" b="1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99FB86-CCF5-4453-97E4-C7773702450B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5C196-B5D1-47E2-8826-228F5CDA4900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BDCDB9-9AF0-48A7-A57F-884C783313F4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CE4F0-ED67-4E0C-908C-C1970D2150A9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候選架構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3E085-FC4A-4A83-BC88-4E32310B3607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72207-00E5-4FCF-A9DC-762B9C3E6D0F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(32,), (64,), (64,32)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9AAA4A-BFEF-4D89-AC65-DF214BB7451E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039EFF-069A-4BF7-8059-8F1A794CA794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9CC94D-5997-4204-B184-710F2269C617}"/>
              </a:ext>
            </a:extLst>
          </p:cNvPr>
          <p:cNvSpPr>
            <a:spLocks noGrp="1"/>
          </p:cNvSpPr>
          <p:nvPr/>
        </p:nvSpPr>
        <p:spPr>
          <a:xfrm>
            <a:off x="35433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Activation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F49BDF-295A-4E62-A999-4D7A7E12282B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ReLU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E79FBE-F8B0-496E-B3B6-1D790FE6B54A}"/>
              </a:ext>
            </a:extLst>
          </p:cNvPr>
          <p:cNvSpPr>
            <a:spLocks noGrp="1"/>
          </p:cNvSpPr>
          <p:nvPr/>
        </p:nvSpPr>
        <p:spPr>
          <a:xfrm>
            <a:off x="35433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另比較 tanh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184E02-7A6B-453C-B501-368DCEE58473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DC81BE-A658-449E-A44F-C5F7531FEEA9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B98118-3B97-4731-ACDB-18518A00C80C}"/>
              </a:ext>
            </a:extLst>
          </p:cNvPr>
          <p:cNvSpPr>
            <a:spLocks noGrp="1"/>
          </p:cNvSpPr>
          <p:nvPr/>
        </p:nvSpPr>
        <p:spPr>
          <a:xfrm>
            <a:off x="62484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CV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76499B-68A3-44E3-BDDC-09CF85147F28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3-fold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9E9C67-DC94-412B-AC90-260A4F6849C6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StratifiedKFold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6707F3-DAAE-4B17-97CA-0BE2113AC365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41E8F3-CEDA-4C3A-AE1C-02C5EBB4D54E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92825A-D961-4469-8092-541CF9E8C4A8}"/>
              </a:ext>
            </a:extLst>
          </p:cNvPr>
          <p:cNvSpPr>
            <a:spLocks noGrp="1"/>
          </p:cNvSpPr>
          <p:nvPr/>
        </p:nvSpPr>
        <p:spPr>
          <a:xfrm>
            <a:off x="89535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Scoring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7CDA2F-E5BE-4571-9C40-12A6D70D5DE4}"/>
              </a:ext>
            </a:extLst>
          </p:cNvPr>
          <p:cNvSpPr>
            <a:spLocks noGrp="1"/>
          </p:cNvSpPr>
          <p:nvPr/>
        </p:nvSpPr>
        <p:spPr>
          <a:xfrm>
            <a:off x="89535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PR-AUC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E7E3D-AB55-43E2-904E-955CA43E615B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average_precision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FE7D2A-DD93-4E07-934F-D6E47738D1C3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49149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765D93-57D0-448B-8776-B8B37190D012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搜尋參數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3E680A-1A93-464A-BD6C-1F6CA65F1DB4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hidden_layer_sizes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3C2996-08CD-43AD-B960-5581A4A706F0}"/>
              </a:ext>
            </a:extLst>
          </p:cNvPr>
          <p:cNvSpPr>
            <a:spLocks noGrp="1"/>
          </p:cNvSpPr>
          <p:nvPr/>
        </p:nvSpPr>
        <p:spPr>
          <a:xfrm>
            <a:off x="3048000" y="4095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(32,), (64,), (64, 32)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E97DF5-C8E8-481A-AFD4-84209EDFA7D0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96F342-D13F-42E1-AC70-9231C9A3ACB0}"/>
              </a:ext>
            </a:extLst>
          </p:cNvPr>
          <p:cNvSpPr>
            <a:spLocks noGrp="1"/>
          </p:cNvSpPr>
          <p:nvPr/>
        </p:nvSpPr>
        <p:spPr>
          <a:xfrm>
            <a:off x="3048000" y="4419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relu / tanh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B78ED5-6F5E-488C-AA71-3423701BCFF6}"/>
              </a:ext>
            </a:extLst>
          </p:cNvPr>
          <p:cNvSpPr>
            <a:spLocks noGrp="1"/>
          </p:cNvSpPr>
          <p:nvPr/>
        </p:nvSpPr>
        <p:spPr>
          <a:xfrm>
            <a:off x="1143000" y="4743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alpha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4DF3A5-C8B3-4417-94A5-26055EC7995C}"/>
              </a:ext>
            </a:extLst>
          </p:cNvPr>
          <p:cNvSpPr>
            <a:spLocks noGrp="1"/>
          </p:cNvSpPr>
          <p:nvPr/>
        </p:nvSpPr>
        <p:spPr>
          <a:xfrm>
            <a:off x="3048000" y="4743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0.0001 / 0.001 / 0.01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FE3F9E-F403-491D-8786-75499528159A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learning_rate_init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FBBC87-B254-46BA-B075-63C82A943F4A}"/>
              </a:ext>
            </a:extLst>
          </p:cNvPr>
          <p:cNvSpPr>
            <a:spLocks noGrp="1"/>
          </p:cNvSpPr>
          <p:nvPr/>
        </p:nvSpPr>
        <p:spPr>
          <a:xfrm>
            <a:off x="3048000" y="50673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0.001 / 0.01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6C771E-221C-4B44-A819-51CF9E7EB7C6}"/>
              </a:ext>
            </a:extLst>
          </p:cNvPr>
          <p:cNvSpPr>
            <a:spLocks noGrp="1"/>
          </p:cNvSpPr>
          <p:nvPr/>
        </p:nvSpPr>
        <p:spPr>
          <a:xfrm>
            <a:off x="6496050" y="3162300"/>
            <a:ext cx="4762500" cy="257175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AE6B81-1BAF-407B-91CA-9F2C98730859}"/>
              </a:ext>
            </a:extLst>
          </p:cNvPr>
          <p:cNvSpPr>
            <a:spLocks noGrp="1"/>
          </p:cNvSpPr>
          <p:nvPr/>
        </p:nvSpPr>
        <p:spPr>
          <a:xfrm>
            <a:off x="6896100" y="3467100"/>
            <a:ext cx="120015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EB18F3-8E59-4A3E-BA12-508D2E76F3A7}"/>
              </a:ext>
            </a:extLst>
          </p:cNvPr>
          <p:cNvSpPr>
            <a:spLocks noGrp="1"/>
          </p:cNvSpPr>
          <p:nvPr/>
        </p:nvSpPr>
        <p:spPr>
          <a:xfrm>
            <a:off x="6972300" y="35052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BEST MLP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4F0C27-4590-476B-85D2-2417A814F719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hidden layer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C0AACA-E96E-4F5E-A23E-1C048C3464A5}"/>
              </a:ext>
            </a:extLst>
          </p:cNvPr>
          <p:cNvSpPr>
            <a:spLocks noGrp="1"/>
          </p:cNvSpPr>
          <p:nvPr/>
        </p:nvSpPr>
        <p:spPr>
          <a:xfrm>
            <a:off x="8896350" y="3981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(64,)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FD68ADE-9323-4C9A-BEF9-D38F9BC2FD93}"/>
              </a:ext>
            </a:extLst>
          </p:cNvPr>
          <p:cNvSpPr>
            <a:spLocks noGrp="1"/>
          </p:cNvSpPr>
          <p:nvPr/>
        </p:nvSpPr>
        <p:spPr>
          <a:xfrm>
            <a:off x="6896100" y="4324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activation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908D38B-1E44-473C-9461-C55607175039}"/>
              </a:ext>
            </a:extLst>
          </p:cNvPr>
          <p:cNvSpPr>
            <a:spLocks noGrp="1"/>
          </p:cNvSpPr>
          <p:nvPr/>
        </p:nvSpPr>
        <p:spPr>
          <a:xfrm>
            <a:off x="8896350" y="43053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43E81B9-1B30-4F68-9ADB-54C13DE03D0A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alpha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635721-4893-4274-8230-2B11767EAA5E}"/>
              </a:ext>
            </a:extLst>
          </p:cNvPr>
          <p:cNvSpPr>
            <a:spLocks noGrp="1"/>
          </p:cNvSpPr>
          <p:nvPr/>
        </p:nvSpPr>
        <p:spPr>
          <a:xfrm>
            <a:off x="8896350" y="4629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0.0001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CB2BC62-ABF0-49FB-9A72-7FC70B79F4FF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learning rate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A230C4F-8467-496C-A97C-30C4374ECF19}"/>
              </a:ext>
            </a:extLst>
          </p:cNvPr>
          <p:cNvSpPr>
            <a:spLocks noGrp="1"/>
          </p:cNvSpPr>
          <p:nvPr/>
        </p:nvSpPr>
        <p:spPr>
          <a:xfrm>
            <a:off x="8896350" y="4953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EAF4506-84A2-474F-A6C8-E123C270BE8A}"/>
              </a:ext>
            </a:extLst>
          </p:cNvPr>
          <p:cNvSpPr>
            <a:spLocks noGrp="1"/>
          </p:cNvSpPr>
          <p:nvPr/>
        </p:nvSpPr>
        <p:spPr>
          <a:xfrm>
            <a:off x="6896100" y="5295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CV PR-AUC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E6A0C26-CC68-470B-A5D2-A78C3AC7D6B7}"/>
              </a:ext>
            </a:extLst>
          </p:cNvPr>
          <p:cNvSpPr>
            <a:spLocks noGrp="1"/>
          </p:cNvSpPr>
          <p:nvPr/>
        </p:nvSpPr>
        <p:spPr>
          <a:xfrm>
            <a:off x="8896350" y="52768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0.1639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7C3BA7C-C6C3-43A3-9345-B77CA09961CE}"/>
              </a:ext>
            </a:extLst>
          </p:cNvPr>
          <p:cNvSpPr>
            <a:spLocks noGrp="1"/>
          </p:cNvSpPr>
          <p:nvPr/>
        </p:nvSpPr>
        <p:spPr>
          <a:xfrm>
            <a:off x="1962150" y="6057900"/>
            <a:ext cx="828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PR-AUC 用來評估模型是否能在少數 stroke 類別上排序出較高風險者。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073F1AC-85E8-44EA-B853-137B83D648EE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597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D13D2AB-FFA1-4AD3-B8CA-8611392A62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A44BF6-9EE1-4011-B804-249D75F271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883A8-B436-44F2-BF1B-FBB2ED2B69A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Decision Threshold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A4BDFF-2DF3-4ADB-9C38-99503212285E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神經網路不能只看 0.5：中風預測需要召回導向門檻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7D5283-2BEB-4368-BE84-F639D3296254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3AF8B-D7D0-45AC-8C25-A7C7C67B4B9C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629900" cy="125730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9821E7-3EAC-43D2-8C00-89E98316768B}"/>
              </a:ext>
            </a:extLst>
          </p:cNvPr>
          <p:cNvSpPr>
            <a:spLocks noGrp="1"/>
          </p:cNvSpPr>
          <p:nvPr/>
        </p:nvSpPr>
        <p:spPr>
          <a:xfrm>
            <a:off x="12001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 </a:t>
            </a:r>
            <a:r>
              <a:rPr sz="18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輸出機率</a:t>
            </a:r>
            <a:endParaRPr sz="18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236E3B-F919-47B0-88F5-098F713D30E1}"/>
              </a:ext>
            </a:extLst>
          </p:cNvPr>
          <p:cNvSpPr>
            <a:spLocks noGrp="1"/>
          </p:cNvSpPr>
          <p:nvPr/>
        </p:nvSpPr>
        <p:spPr>
          <a:xfrm>
            <a:off x="3714750" y="2133600"/>
            <a:ext cx="66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C4FB31-5A41-434F-AC8E-E2CA3A3C4B14}"/>
              </a:ext>
            </a:extLst>
          </p:cNvPr>
          <p:cNvSpPr>
            <a:spLocks noGrp="1"/>
          </p:cNvSpPr>
          <p:nvPr/>
        </p:nvSpPr>
        <p:spPr>
          <a:xfrm>
            <a:off x="45529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調整分類門檻</a:t>
            </a:r>
            <a:endParaRPr sz="18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0B2D80-ED1C-438A-B6E1-67CF8F78AEE7}"/>
              </a:ext>
            </a:extLst>
          </p:cNvPr>
          <p:cNvSpPr>
            <a:spLocks noGrp="1"/>
          </p:cNvSpPr>
          <p:nvPr/>
        </p:nvSpPr>
        <p:spPr>
          <a:xfrm>
            <a:off x="7067550" y="2133600"/>
            <a:ext cx="66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D1AD89-B122-4C8C-A901-4D11FDD61244}"/>
              </a:ext>
            </a:extLst>
          </p:cNvPr>
          <p:cNvSpPr>
            <a:spLocks noGrp="1"/>
          </p:cNvSpPr>
          <p:nvPr/>
        </p:nvSpPr>
        <p:spPr>
          <a:xfrm>
            <a:off x="79057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降低漏判風險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EE2394-2CDC-421A-88EE-8AD51B02BAFE}"/>
              </a:ext>
            </a:extLst>
          </p:cNvPr>
          <p:cNvSpPr>
            <a:spLocks noGrp="1"/>
          </p:cNvSpPr>
          <p:nvPr/>
        </p:nvSpPr>
        <p:spPr>
          <a:xfrm>
            <a:off x="1390650" y="3638550"/>
            <a:ext cx="4095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747D0A-A4A3-49F8-A8B4-A3DB07D0FF01}"/>
              </a:ext>
            </a:extLst>
          </p:cNvPr>
          <p:cNvSpPr>
            <a:spLocks noGrp="1"/>
          </p:cNvSpPr>
          <p:nvPr/>
        </p:nvSpPr>
        <p:spPr>
          <a:xfrm>
            <a:off x="1390650" y="363855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08DAEE-D997-4B15-B109-52062BB0B8FE}"/>
              </a:ext>
            </a:extLst>
          </p:cNvPr>
          <p:cNvSpPr>
            <a:spLocks noGrp="1"/>
          </p:cNvSpPr>
          <p:nvPr/>
        </p:nvSpPr>
        <p:spPr>
          <a:xfrm>
            <a:off x="1600200" y="3781425"/>
            <a:ext cx="377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預設門檻 0.5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9F87A8-C3DB-4583-B51D-B8D10308687D}"/>
              </a:ext>
            </a:extLst>
          </p:cNvPr>
          <p:cNvSpPr>
            <a:spLocks noGrp="1"/>
          </p:cNvSpPr>
          <p:nvPr/>
        </p:nvSpPr>
        <p:spPr>
          <a:xfrm>
            <a:off x="1600200" y="4019550"/>
            <a:ext cx="37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FN = 33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639B14-7A15-4E4D-9FCA-E0EF09FD4231}"/>
              </a:ext>
            </a:extLst>
          </p:cNvPr>
          <p:cNvSpPr>
            <a:spLocks noGrp="1"/>
          </p:cNvSpPr>
          <p:nvPr/>
        </p:nvSpPr>
        <p:spPr>
          <a:xfrm>
            <a:off x="1600200" y="4438650"/>
            <a:ext cx="3771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只有 17 位中風者被抓到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901D68-AA6C-4251-AE16-C353698B687C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4095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819745-7225-4484-B2BA-FCC7E8063492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7FCE45-D3C3-4DD1-B175-A0604554A334}"/>
              </a:ext>
            </a:extLst>
          </p:cNvPr>
          <p:cNvSpPr>
            <a:spLocks noGrp="1"/>
          </p:cNvSpPr>
          <p:nvPr/>
        </p:nvSpPr>
        <p:spPr>
          <a:xfrm>
            <a:off x="6915150" y="3781425"/>
            <a:ext cx="377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F2 門檻 0.245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933495-DC27-4215-89EF-90C604BAA0B6}"/>
              </a:ext>
            </a:extLst>
          </p:cNvPr>
          <p:cNvSpPr>
            <a:spLocks noGrp="1"/>
          </p:cNvSpPr>
          <p:nvPr/>
        </p:nvSpPr>
        <p:spPr>
          <a:xfrm>
            <a:off x="6915150" y="4019550"/>
            <a:ext cx="37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FN = 11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D486508-AFEE-4384-A995-C54CAE84EC99}"/>
              </a:ext>
            </a:extLst>
          </p:cNvPr>
          <p:cNvSpPr>
            <a:spLocks noGrp="1"/>
          </p:cNvSpPr>
          <p:nvPr/>
        </p:nvSpPr>
        <p:spPr>
          <a:xfrm>
            <a:off x="6915150" y="4438650"/>
            <a:ext cx="3771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39 位中風者被抓到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87F33D-8199-4E96-AA6C-3221F0D51571}"/>
              </a:ext>
            </a:extLst>
          </p:cNvPr>
          <p:cNvSpPr>
            <a:spLocks noGrp="1"/>
          </p:cNvSpPr>
          <p:nvPr/>
        </p:nvSpPr>
        <p:spPr>
          <a:xfrm>
            <a:off x="1609725" y="5343525"/>
            <a:ext cx="8934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F2 比 F1 </a:t>
            </a:r>
            <a:r>
              <a:rPr sz="172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更重視</a:t>
            </a: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72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Recall，因此較符合醫療預警：寧可多一些誤報，也要少漏掉高風險個案</a:t>
            </a: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310AD4-B27A-4D30-8D60-8E76D724ACF5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868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3541D58-E411-49D0-A2B6-3EC765291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B693E5-4D57-49B2-9587-B5FE6585FE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F63428-4A18-4745-97D5-9E5F56F75D2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Threshold Selection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EE2CE6-0F60-4D43-A881-0236706B64A5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OOF F2</a:t>
            </a:r>
            <a:r>
              <a:rPr lang="en-US"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000" b="1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選出</a:t>
            </a:r>
            <a:r>
              <a:rPr lang="en-US"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zh-TW" sz="3000" b="1" dirty="0"/>
              <a:t>MLP</a:t>
            </a:r>
            <a:r>
              <a:rPr lang="en-US" altLang="zh-TW" sz="3000" b="1" dirty="0"/>
              <a:t> </a:t>
            </a:r>
            <a:r>
              <a:rPr lang="zh-TW" altLang="zh-TW" sz="3000" b="1" dirty="0"/>
              <a:t>分類門檻</a:t>
            </a:r>
            <a:r>
              <a:rPr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=</a:t>
            </a:r>
            <a:r>
              <a:rPr lang="en-US"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000" b="1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0.245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2901E-8AE1-42EE-839A-595603896C6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4C5B54-AA53-4F91-B3F4-826341AEA90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EDDE33-752E-424B-B344-3395AA9DF92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B865C-15C1-4F3A-918B-45130C5F65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dirty="0" err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最佳</a:t>
            </a:r>
            <a:r>
              <a:rPr sz="1200" b="1" dirty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1200" b="1" dirty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200" b="1" dirty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00" b="1" dirty="0" err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門檻</a:t>
            </a:r>
            <a:endParaRPr sz="1200" b="1" dirty="0">
              <a:solidFill>
                <a:srgbClr val="68778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C88A1B-593E-4ADC-9109-E0179128A285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0.245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6AA1F5-C423-4429-8E00-3EE7376CB330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F2-score 選出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033B02-E06C-4C95-B78D-6B5060EC5DAE}"/>
              </a:ext>
            </a:extLst>
          </p:cNvPr>
          <p:cNvSpPr>
            <a:spLocks noGrp="1"/>
          </p:cNvSpPr>
          <p:nvPr/>
        </p:nvSpPr>
        <p:spPr>
          <a:xfrm>
            <a:off x="45720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10ACFC-6841-4C15-A1CB-375B2FB5AB86}"/>
              </a:ext>
            </a:extLst>
          </p:cNvPr>
          <p:cNvSpPr>
            <a:spLocks noGrp="1"/>
          </p:cNvSpPr>
          <p:nvPr/>
        </p:nvSpPr>
        <p:spPr>
          <a:xfrm>
            <a:off x="4572000" y="146685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907F4-9580-451E-8064-B393A113204C}"/>
              </a:ext>
            </a:extLst>
          </p:cNvPr>
          <p:cNvSpPr>
            <a:spLocks noGrp="1"/>
          </p:cNvSpPr>
          <p:nvPr/>
        </p:nvSpPr>
        <p:spPr>
          <a:xfrm>
            <a:off x="47815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測試 Recall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7C0123-4F50-4BC6-8FEF-ED29F3705D6A}"/>
              </a:ext>
            </a:extLst>
          </p:cNvPr>
          <p:cNvSpPr>
            <a:spLocks noGrp="1"/>
          </p:cNvSpPr>
          <p:nvPr/>
        </p:nvSpPr>
        <p:spPr>
          <a:xfrm>
            <a:off x="47815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0.78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CF0A5C-AD77-4EAB-B013-C0B8283B6F67}"/>
              </a:ext>
            </a:extLst>
          </p:cNvPr>
          <p:cNvSpPr>
            <a:spLocks noGrp="1"/>
          </p:cNvSpPr>
          <p:nvPr/>
        </p:nvSpPr>
        <p:spPr>
          <a:xfrm>
            <a:off x="47815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39 / 50 位中風個案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A0C105-B6AF-4A2B-AB85-95E9A3D1B68F}"/>
              </a:ext>
            </a:extLst>
          </p:cNvPr>
          <p:cNvSpPr>
            <a:spLocks noGrp="1"/>
          </p:cNvSpPr>
          <p:nvPr/>
        </p:nvSpPr>
        <p:spPr>
          <a:xfrm>
            <a:off x="84582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DA5369-8DB2-4464-8141-74DA8216C7CA}"/>
              </a:ext>
            </a:extLst>
          </p:cNvPr>
          <p:cNvSpPr>
            <a:spLocks noGrp="1"/>
          </p:cNvSpPr>
          <p:nvPr/>
        </p:nvSpPr>
        <p:spPr>
          <a:xfrm>
            <a:off x="8458200" y="146685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DB5F2F-55F4-4F58-9988-76BFBC2CF8C9}"/>
              </a:ext>
            </a:extLst>
          </p:cNvPr>
          <p:cNvSpPr>
            <a:spLocks noGrp="1"/>
          </p:cNvSpPr>
          <p:nvPr/>
        </p:nvSpPr>
        <p:spPr>
          <a:xfrm>
            <a:off x="86677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測試 F2-score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BFC25B-FEFA-4BFB-87C7-AC52CAAC7E89}"/>
              </a:ext>
            </a:extLst>
          </p:cNvPr>
          <p:cNvSpPr>
            <a:spLocks noGrp="1"/>
          </p:cNvSpPr>
          <p:nvPr/>
        </p:nvSpPr>
        <p:spPr>
          <a:xfrm>
            <a:off x="86677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0.430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C037CF-7295-4540-A6C1-87C802582940}"/>
              </a:ext>
            </a:extLst>
          </p:cNvPr>
          <p:cNvSpPr>
            <a:spLocks noGrp="1"/>
          </p:cNvSpPr>
          <p:nvPr/>
        </p:nvSpPr>
        <p:spPr>
          <a:xfrm>
            <a:off x="86677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較重視 Recall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44636D-571C-4EC2-ADE9-A6F2FBB6D1FA}"/>
              </a:ext>
            </a:extLst>
          </p:cNvPr>
          <p:cNvSpPr>
            <a:spLocks noGrp="1"/>
          </p:cNvSpPr>
          <p:nvPr/>
        </p:nvSpPr>
        <p:spPr>
          <a:xfrm>
            <a:off x="2343150" y="2762250"/>
            <a:ext cx="75057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46" name="圖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6500" y="2838449"/>
            <a:ext cx="7372349" cy="33813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F47C49E-517E-4932-B58B-9338902D6DBC}"/>
              </a:ext>
            </a:extLst>
          </p:cNvPr>
          <p:cNvSpPr>
            <a:spLocks noGrp="1"/>
          </p:cNvSpPr>
          <p:nvPr/>
        </p:nvSpPr>
        <p:spPr>
          <a:xfrm>
            <a:off x="2038350" y="6324598"/>
            <a:ext cx="811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0.245 </a:t>
            </a:r>
            <a:r>
              <a:rPr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由訓練集</a:t>
            </a: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OOF F2-score </a:t>
            </a:r>
            <a:r>
              <a:rPr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選出</a:t>
            </a:r>
            <a:r>
              <a:rPr lang="zh-TW" altLang="en-US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測試集未參與門檻選擇</a:t>
            </a: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D67ED9-9FC9-450B-9F35-6904ED2BDFD1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5145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6BA9F9B-997C-4B83-9DD6-2CD5A9777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0FFB80-9C37-4F07-9E3A-9680A4D4E4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64A1A-682A-40CA-A236-401DC4511F8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E4473D"/>
                </a:solidFill>
                <a:latin typeface="Aptos"/>
                <a:ea typeface="Aptos"/>
                <a:cs typeface="Aptos"/>
              </a:rPr>
              <a:t>NN Confusion Matrix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CD7593-0BBE-4766-B2E6-066C931EBDCD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神經網路混淆矩陣：門檻調整後明顯降低漏判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B746B7-DDC5-4AF3-BB8D-6EABB76BF966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D304D1-EBBB-44C9-8217-9D0B2FC7AE9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486400" cy="491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326" y="1428750"/>
            <a:ext cx="5090948" cy="4762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A5E177F-1642-4706-B23A-ACEA3C36108A}"/>
              </a:ext>
            </a:extLst>
          </p:cNvPr>
          <p:cNvSpPr>
            <a:spLocks noGrp="1"/>
          </p:cNvSpPr>
          <p:nvPr/>
        </p:nvSpPr>
        <p:spPr>
          <a:xfrm>
            <a:off x="6610350" y="1657350"/>
            <a:ext cx="4095750" cy="990600"/>
          </a:xfrm>
          <a:prstGeom prst="rect">
            <a:avLst/>
          </a:prstGeom>
          <a:solidFill>
            <a:srgbClr val="E3F2F2"/>
          </a:solidFill>
          <a:ln w="9525">
            <a:solidFill>
              <a:srgbClr val="E3F2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1DE558-7101-4B29-93D1-ECD30D76B760}"/>
              </a:ext>
            </a:extLst>
          </p:cNvPr>
          <p:cNvSpPr>
            <a:spLocks noGrp="1"/>
          </p:cNvSpPr>
          <p:nvPr/>
        </p:nvSpPr>
        <p:spPr>
          <a:xfrm>
            <a:off x="6610350" y="1657350"/>
            <a:ext cx="76200" cy="9906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3022CA-15C8-427F-B084-624DD5BFF1DB}"/>
              </a:ext>
            </a:extLst>
          </p:cNvPr>
          <p:cNvSpPr>
            <a:spLocks noGrp="1"/>
          </p:cNvSpPr>
          <p:nvPr/>
        </p:nvSpPr>
        <p:spPr>
          <a:xfrm>
            <a:off x="6915150" y="18288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True Positive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6290C1-797E-43AC-A5AA-FC5D54344500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39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EDD261-8C57-45C9-AE73-1673807CEE94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成功抓到實際中風個案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CA555B-40FC-45A2-9FD2-3A84FAD58045}"/>
              </a:ext>
            </a:extLst>
          </p:cNvPr>
          <p:cNvSpPr>
            <a:spLocks noGrp="1"/>
          </p:cNvSpPr>
          <p:nvPr/>
        </p:nvSpPr>
        <p:spPr>
          <a:xfrm>
            <a:off x="6610350" y="2914650"/>
            <a:ext cx="4095750" cy="990600"/>
          </a:xfrm>
          <a:prstGeom prst="rect">
            <a:avLst/>
          </a:prstGeom>
          <a:solidFill>
            <a:srgbClr val="FBE9E7"/>
          </a:solidFill>
          <a:ln w="9525">
            <a:solidFill>
              <a:srgbClr val="FBE9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D9D7F0-AAD8-4EAA-B6CA-0FDEEA91AABC}"/>
              </a:ext>
            </a:extLst>
          </p:cNvPr>
          <p:cNvSpPr>
            <a:spLocks noGrp="1"/>
          </p:cNvSpPr>
          <p:nvPr/>
        </p:nvSpPr>
        <p:spPr>
          <a:xfrm>
            <a:off x="6610350" y="2914650"/>
            <a:ext cx="76200" cy="9906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727E97-1BC5-4D60-8728-E8BB4A59894A}"/>
              </a:ext>
            </a:extLst>
          </p:cNvPr>
          <p:cNvSpPr>
            <a:spLocks noGrp="1"/>
          </p:cNvSpPr>
          <p:nvPr/>
        </p:nvSpPr>
        <p:spPr>
          <a:xfrm>
            <a:off x="6915150" y="30861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False Negative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3AA3D6-86B5-47AD-9797-93190F74358F}"/>
              </a:ext>
            </a:extLst>
          </p:cNvPr>
          <p:cNvSpPr>
            <a:spLocks noGrp="1"/>
          </p:cNvSpPr>
          <p:nvPr/>
        </p:nvSpPr>
        <p:spPr>
          <a:xfrm>
            <a:off x="8858250" y="30670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7CC301-ECBA-4E2F-A5A8-06E2BDF9F214}"/>
              </a:ext>
            </a:extLst>
          </p:cNvPr>
          <p:cNvSpPr>
            <a:spLocks noGrp="1"/>
          </p:cNvSpPr>
          <p:nvPr/>
        </p:nvSpPr>
        <p:spPr>
          <a:xfrm>
            <a:off x="6915150" y="3467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漏判人數由 33 降低至 11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BBF7D-605E-4328-80FB-3FF647CEE48B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4095750" cy="990600"/>
          </a:xfrm>
          <a:prstGeom prst="rect">
            <a:avLst/>
          </a:prstGeom>
          <a:solidFill>
            <a:srgbClr val="FFF6DF"/>
          </a:solidFill>
          <a:ln w="9525">
            <a:solidFill>
              <a:srgbClr val="FFF6D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3423F-C22E-474F-8806-F3F9BB575073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76200" cy="9906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2368BA-38ED-4EAF-806A-1A917F00B7B4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3A8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A83B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9A522B-D329-49B1-8A3E-68ECECC4C971}"/>
              </a:ext>
            </a:extLst>
          </p:cNvPr>
          <p:cNvSpPr>
            <a:spLocks noGrp="1"/>
          </p:cNvSpPr>
          <p:nvPr/>
        </p:nvSpPr>
        <p:spPr>
          <a:xfrm>
            <a:off x="8858250" y="43243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215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3F16E2-61A8-4168-9EF4-55C8B9B0E11A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代價是誤警示增加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25E02C-DE0A-441E-9BA2-5BBA05ABD58C}"/>
              </a:ext>
            </a:extLst>
          </p:cNvPr>
          <p:cNvSpPr>
            <a:spLocks noGrp="1"/>
          </p:cNvSpPr>
          <p:nvPr/>
        </p:nvSpPr>
        <p:spPr>
          <a:xfrm>
            <a:off x="6610350" y="5410200"/>
            <a:ext cx="40957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CBB225-656E-48FA-863E-7FA8AC82FB7B}"/>
              </a:ext>
            </a:extLst>
          </p:cNvPr>
          <p:cNvSpPr>
            <a:spLocks noGrp="1"/>
          </p:cNvSpPr>
          <p:nvPr/>
        </p:nvSpPr>
        <p:spPr>
          <a:xfrm>
            <a:off x="6829425" y="5524500"/>
            <a:ext cx="3600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Recall = 39 / 50 = 0.78；測試集 n = 1,022</a:t>
            </a:r>
          </a:p>
          <a:p>
            <a:pPr algn="ctr">
              <a:defRPr sz="12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200" b="1" dirty="0"/>
              <a:t>MLP 分類門檻 = 0.245</a:t>
            </a:r>
            <a:endParaRPr lang="en-US" altLang="zh-TW" sz="1200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0AB6E2-375E-43B8-A1E7-6C0A391398A0}"/>
              </a:ext>
            </a:extLst>
          </p:cNvPr>
          <p:cNvSpPr>
            <a:spLocks noGrp="1"/>
          </p:cNvSpPr>
          <p:nvPr/>
        </p:nvSpPr>
        <p:spPr>
          <a:xfrm>
            <a:off x="6610350" y="60388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200" dirty="0"/>
              <a:t>調低分類門檻後，模型適合作為初步風險預警工具，但仍需搭配後續醫療評估。</a:t>
            </a:r>
          </a:p>
          <a:p>
            <a:pPr algn="ctr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endParaRPr sz="1200" b="0" dirty="0">
              <a:solidFill>
                <a:srgbClr val="68778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033DF0-E592-4164-9DA6-E3D7F2087CD8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5648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902A66C-A974-4DA0-8D3B-A08D7FECF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8C762F-3E23-4DC0-8850-79F94BE460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F63C3D-E04C-48C3-88F8-BDE1124CCC0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8D444E-9AF3-4D3D-BE46-884583B68DAF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結果分析：MLP 主模型與 LR benchmark 比較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8EF657-BA1A-418D-AC95-6DD2453EF5E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17F710-B6BD-4136-8FEA-3A075E6D4CEC}"/>
              </a:ext>
            </a:extLst>
          </p:cNvPr>
          <p:cNvSpPr>
            <a:spLocks noGrp="1"/>
          </p:cNvSpPr>
          <p:nvPr/>
        </p:nvSpPr>
        <p:spPr>
          <a:xfrm>
            <a:off x="438150" y="1504950"/>
            <a:ext cx="7086600" cy="424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751013"/>
            <a:ext cx="6934200" cy="37560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D8FA16D-4086-4416-9251-4FDB7627776E}"/>
              </a:ext>
            </a:extLst>
          </p:cNvPr>
          <p:cNvSpPr>
            <a:spLocks noGrp="1"/>
          </p:cNvSpPr>
          <p:nvPr/>
        </p:nvSpPr>
        <p:spPr>
          <a:xfrm>
            <a:off x="7848600" y="1581150"/>
            <a:ext cx="3429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447AC3-AEBF-4F67-8D00-46F0212B6782}"/>
              </a:ext>
            </a:extLst>
          </p:cNvPr>
          <p:cNvSpPr>
            <a:spLocks noGrp="1"/>
          </p:cNvSpPr>
          <p:nvPr/>
        </p:nvSpPr>
        <p:spPr>
          <a:xfrm>
            <a:off x="8153400" y="18478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測試集指標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A37564-B6B4-4D69-A725-5F182062B8CC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274320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377504-AD3F-4C41-9093-6A61EFF0790F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EF9999-2319-46FD-891B-640B17FBD443}"/>
              </a:ext>
            </a:extLst>
          </p:cNvPr>
          <p:cNvSpPr>
            <a:spLocks noGrp="1"/>
          </p:cNvSpPr>
          <p:nvPr/>
        </p:nvSpPr>
        <p:spPr>
          <a:xfrm>
            <a:off x="9391650" y="24193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217E95-CCF5-4334-94FE-91D6581C328F}"/>
              </a:ext>
            </a:extLst>
          </p:cNvPr>
          <p:cNvSpPr>
            <a:spLocks noGrp="1"/>
          </p:cNvSpPr>
          <p:nvPr/>
        </p:nvSpPr>
        <p:spPr>
          <a:xfrm>
            <a:off x="10115550" y="24193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619009-B924-4512-9A1D-BFA4AC567B0C}"/>
              </a:ext>
            </a:extLst>
          </p:cNvPr>
          <p:cNvSpPr>
            <a:spLocks noGrp="1"/>
          </p:cNvSpPr>
          <p:nvPr/>
        </p:nvSpPr>
        <p:spPr>
          <a:xfrm>
            <a:off x="8115300" y="2771775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CF60BE-80DE-4930-B857-CB841DD957F4}"/>
              </a:ext>
            </a:extLst>
          </p:cNvPr>
          <p:cNvSpPr>
            <a:spLocks noGrp="1"/>
          </p:cNvSpPr>
          <p:nvPr/>
        </p:nvSpPr>
        <p:spPr>
          <a:xfrm>
            <a:off x="8229600" y="284797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21AB80-0A0F-428D-8D30-B7CF1CDB5AB5}"/>
              </a:ext>
            </a:extLst>
          </p:cNvPr>
          <p:cNvSpPr>
            <a:spLocks noGrp="1"/>
          </p:cNvSpPr>
          <p:nvPr/>
        </p:nvSpPr>
        <p:spPr>
          <a:xfrm>
            <a:off x="9391650" y="28479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.154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142A40-011E-4ECD-8A3C-9E10CA3D1017}"/>
              </a:ext>
            </a:extLst>
          </p:cNvPr>
          <p:cNvSpPr>
            <a:spLocks noGrp="1"/>
          </p:cNvSpPr>
          <p:nvPr/>
        </p:nvSpPr>
        <p:spPr>
          <a:xfrm>
            <a:off x="10115550" y="28479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.161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27F4BA-A4BB-4917-A79E-84540D34368D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87531D-16F5-4C44-97C4-14A7438EA6A4}"/>
              </a:ext>
            </a:extLst>
          </p:cNvPr>
          <p:cNvSpPr>
            <a:spLocks noGrp="1"/>
          </p:cNvSpPr>
          <p:nvPr/>
        </p:nvSpPr>
        <p:spPr>
          <a:xfrm>
            <a:off x="8229600" y="32766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E76A36-1F33-422F-8B0A-5A385C3DE043}"/>
              </a:ext>
            </a:extLst>
          </p:cNvPr>
          <p:cNvSpPr>
            <a:spLocks noGrp="1"/>
          </p:cNvSpPr>
          <p:nvPr/>
        </p:nvSpPr>
        <p:spPr>
          <a:xfrm>
            <a:off x="9391650" y="327660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.780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A912E4-8C3B-4EB6-8A7B-B38396DB06F9}"/>
              </a:ext>
            </a:extLst>
          </p:cNvPr>
          <p:cNvSpPr>
            <a:spLocks noGrp="1"/>
          </p:cNvSpPr>
          <p:nvPr/>
        </p:nvSpPr>
        <p:spPr>
          <a:xfrm>
            <a:off x="10115550" y="327660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.800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117195-62E8-4292-8045-A859FF8129EF}"/>
              </a:ext>
            </a:extLst>
          </p:cNvPr>
          <p:cNvSpPr>
            <a:spLocks noGrp="1"/>
          </p:cNvSpPr>
          <p:nvPr/>
        </p:nvSpPr>
        <p:spPr>
          <a:xfrm>
            <a:off x="8115300" y="3629025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AA5780-368C-40CC-80F9-1028C2350AEC}"/>
              </a:ext>
            </a:extLst>
          </p:cNvPr>
          <p:cNvSpPr>
            <a:spLocks noGrp="1"/>
          </p:cNvSpPr>
          <p:nvPr/>
        </p:nvSpPr>
        <p:spPr>
          <a:xfrm>
            <a:off x="8229600" y="370522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5A6ED1-1F9D-49F5-92BF-65A3CB4C2CD3}"/>
              </a:ext>
            </a:extLst>
          </p:cNvPr>
          <p:cNvSpPr>
            <a:spLocks noGrp="1"/>
          </p:cNvSpPr>
          <p:nvPr/>
        </p:nvSpPr>
        <p:spPr>
          <a:xfrm>
            <a:off x="9391650" y="370522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.257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745AE2-1545-4E46-8120-3B4EE6471061}"/>
              </a:ext>
            </a:extLst>
          </p:cNvPr>
          <p:cNvSpPr>
            <a:spLocks noGrp="1"/>
          </p:cNvSpPr>
          <p:nvPr/>
        </p:nvSpPr>
        <p:spPr>
          <a:xfrm>
            <a:off x="10115550" y="370522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.268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8447F8-228D-4785-8C42-F2E3BE637AF8}"/>
              </a:ext>
            </a:extLst>
          </p:cNvPr>
          <p:cNvSpPr>
            <a:spLocks noGrp="1"/>
          </p:cNvSpPr>
          <p:nvPr/>
        </p:nvSpPr>
        <p:spPr>
          <a:xfrm>
            <a:off x="8115300" y="4057650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63B8ED-74A6-4723-82BE-FF79545E2D9E}"/>
              </a:ext>
            </a:extLst>
          </p:cNvPr>
          <p:cNvSpPr>
            <a:spLocks noGrp="1"/>
          </p:cNvSpPr>
          <p:nvPr/>
        </p:nvSpPr>
        <p:spPr>
          <a:xfrm>
            <a:off x="8229600" y="41338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F2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C14401-1899-4AA9-8B49-9DF01ED498BB}"/>
              </a:ext>
            </a:extLst>
          </p:cNvPr>
          <p:cNvSpPr>
            <a:spLocks noGrp="1"/>
          </p:cNvSpPr>
          <p:nvPr/>
        </p:nvSpPr>
        <p:spPr>
          <a:xfrm>
            <a:off x="9391650" y="41338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.430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B9EA1-B309-4460-9CF6-61DB8ACA61AF}"/>
              </a:ext>
            </a:extLst>
          </p:cNvPr>
          <p:cNvSpPr>
            <a:spLocks noGrp="1"/>
          </p:cNvSpPr>
          <p:nvPr/>
        </p:nvSpPr>
        <p:spPr>
          <a:xfrm>
            <a:off x="10115550" y="41338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.445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40C3A05-2D6E-47C0-AEDC-D03A71468AC5}"/>
              </a:ext>
            </a:extLst>
          </p:cNvPr>
          <p:cNvSpPr>
            <a:spLocks noGrp="1"/>
          </p:cNvSpPr>
          <p:nvPr/>
        </p:nvSpPr>
        <p:spPr>
          <a:xfrm>
            <a:off x="8115300" y="4486275"/>
            <a:ext cx="2743200" cy="361950"/>
          </a:xfrm>
          <a:prstGeom prst="rect">
            <a:avLst/>
          </a:prstGeom>
          <a:solidFill>
            <a:srgbClr val="E3F2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31420F-CE14-44AE-8E3C-22125D21E354}"/>
              </a:ext>
            </a:extLst>
          </p:cNvPr>
          <p:cNvSpPr>
            <a:spLocks noGrp="1"/>
          </p:cNvSpPr>
          <p:nvPr/>
        </p:nvSpPr>
        <p:spPr>
          <a:xfrm>
            <a:off x="8229600" y="456247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9A5948-85E5-464D-8965-023378FB33F0}"/>
              </a:ext>
            </a:extLst>
          </p:cNvPr>
          <p:cNvSpPr>
            <a:spLocks noGrp="1"/>
          </p:cNvSpPr>
          <p:nvPr/>
        </p:nvSpPr>
        <p:spPr>
          <a:xfrm>
            <a:off x="9391650" y="45624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.274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0A89C7-E449-46A3-AF81-8169DA6BC8F6}"/>
              </a:ext>
            </a:extLst>
          </p:cNvPr>
          <p:cNvSpPr>
            <a:spLocks noGrp="1"/>
          </p:cNvSpPr>
          <p:nvPr/>
        </p:nvSpPr>
        <p:spPr>
          <a:xfrm>
            <a:off x="10115550" y="45624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.252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442B3B-9A0C-4DD1-81BB-07182727F341}"/>
              </a:ext>
            </a:extLst>
          </p:cNvPr>
          <p:cNvSpPr>
            <a:spLocks noGrp="1"/>
          </p:cNvSpPr>
          <p:nvPr/>
        </p:nvSpPr>
        <p:spPr>
          <a:xfrm>
            <a:off x="8115300" y="5029200"/>
            <a:ext cx="2743200" cy="438150"/>
          </a:xfrm>
          <a:prstGeom prst="rect">
            <a:avLst/>
          </a:prstGeom>
          <a:solidFill>
            <a:srgbClr val="FBE9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0B0417E-CEAA-4A23-AA5E-48021BC11DC5}"/>
              </a:ext>
            </a:extLst>
          </p:cNvPr>
          <p:cNvSpPr>
            <a:spLocks noGrp="1"/>
          </p:cNvSpPr>
          <p:nvPr/>
        </p:nvSpPr>
        <p:spPr>
          <a:xfrm>
            <a:off x="8229600" y="51054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LR benchmark: threshold 0.268</a:t>
            </a:r>
          </a:p>
          <a:p>
            <a:pPr algn="ctr">
              <a:def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FN 10 / FP 209 / PR-AUC 0.252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0148C6-1830-408B-96F1-139A7037C063}"/>
              </a:ext>
            </a:extLst>
          </p:cNvPr>
          <p:cNvSpPr>
            <a:spLocks noGrp="1"/>
          </p:cNvSpPr>
          <p:nvPr/>
        </p:nvSpPr>
        <p:spPr>
          <a:xfrm>
            <a:off x="968619" y="5962650"/>
            <a:ext cx="10216662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判讀：MLP</a:t>
            </a:r>
            <a:r>
              <a:rPr sz="1350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 的 PR-AUC </a:t>
            </a:r>
            <a:r>
              <a:rPr sz="1350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較高，代表風險排序能力有進步；但</a:t>
            </a:r>
            <a:r>
              <a:rPr sz="1350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 Recall/F2 </a:t>
            </a:r>
            <a:r>
              <a:rPr sz="1350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略低於</a:t>
            </a:r>
            <a:r>
              <a:rPr sz="1350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 LR </a:t>
            </a:r>
            <a:r>
              <a:rPr sz="1350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benchmark，所以</a:t>
            </a:r>
            <a:r>
              <a:rPr lang="zh-TW" altLang="zh-TW" sz="1350" b="1" dirty="0"/>
              <a:t>不能說 MLP 神經網路全面勝出</a:t>
            </a:r>
            <a:r>
              <a:rPr sz="1350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8F9928-4E56-4793-9923-69B6C1E1233A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9186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FA54094-2688-47CB-82F8-A1FE049009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09C4D6-4BBD-44BF-B089-8B1D5CC35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A22D0A-57D2-4558-80E7-D081991D15B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Midterm vs Final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A998C6-CE01-449E-ABD0-C6C436378B72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期中基準 vs 期末神經網路：保留脈絡，但主軸轉向 MLP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05153B-0A06-4848-8059-50C6E8B1A687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219D84-524F-4EFB-A6D7-0CC2D3559DF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914900" cy="3295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022F88-4CF0-4F80-9D25-E2764EF32143}"/>
              </a:ext>
            </a:extLst>
          </p:cNvPr>
          <p:cNvSpPr>
            <a:spLocks noGrp="1"/>
          </p:cNvSpPr>
          <p:nvPr/>
        </p:nvSpPr>
        <p:spPr>
          <a:xfrm>
            <a:off x="6591300" y="1752600"/>
            <a:ext cx="4914900" cy="329565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C1BC3B-CF93-424C-A905-448EE7EDE4D7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期中 Balanced LR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FE459A-848E-4625-885E-BB781263E0D9}"/>
              </a:ext>
            </a:extLst>
          </p:cNvPr>
          <p:cNvSpPr>
            <a:spLocks noGrp="1"/>
          </p:cNvSpPr>
          <p:nvPr/>
        </p:nvSpPr>
        <p:spPr>
          <a:xfrm>
            <a:off x="128587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FP 251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4BBCCE-C7B7-4D08-A0D0-25EA96ADD132}"/>
              </a:ext>
            </a:extLst>
          </p:cNvPr>
          <p:cNvSpPr>
            <a:spLocks noGrp="1"/>
          </p:cNvSpPr>
          <p:nvPr/>
        </p:nvSpPr>
        <p:spPr>
          <a:xfrm>
            <a:off x="328612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FN 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7C8683-5418-474E-88F6-3410FA7563E9}"/>
              </a:ext>
            </a:extLst>
          </p:cNvPr>
          <p:cNvSpPr>
            <a:spLocks noGrp="1"/>
          </p:cNvSpPr>
          <p:nvPr/>
        </p:nvSpPr>
        <p:spPr>
          <a:xfrm>
            <a:off x="1619250" y="379095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Recall 0.80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2AA233-548C-437B-8C85-642405B83C04}"/>
              </a:ext>
            </a:extLst>
          </p:cNvPr>
          <p:cNvSpPr>
            <a:spLocks noGrp="1"/>
          </p:cNvSpPr>
          <p:nvPr/>
        </p:nvSpPr>
        <p:spPr>
          <a:xfrm>
            <a:off x="1200150" y="4438650"/>
            <a:ext cx="384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傳統 ML 基線：LR / RF / KNN 比較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1F1FBF-5563-485A-B736-4791C8C04705}"/>
              </a:ext>
            </a:extLst>
          </p:cNvPr>
          <p:cNvSpPr>
            <a:spLocks noGrp="1"/>
          </p:cNvSpPr>
          <p:nvPr/>
        </p:nvSpPr>
        <p:spPr>
          <a:xfrm>
            <a:off x="6896100" y="2019300"/>
            <a:ext cx="430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期末 MLP Neural Network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FB55C5-30DA-448E-AF1F-E4D24EBD1C07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FP 215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C78C37-E336-47B7-BFB6-A0059C21B805}"/>
              </a:ext>
            </a:extLst>
          </p:cNvPr>
          <p:cNvSpPr>
            <a:spLocks noGrp="1"/>
          </p:cNvSpPr>
          <p:nvPr/>
        </p:nvSpPr>
        <p:spPr>
          <a:xfrm>
            <a:off x="919162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FN 11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643F92-B9A0-4954-9896-4EB410B85E1B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Recall 0.78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629135-1962-48F5-A440-1CCB27A0CF7D}"/>
              </a:ext>
            </a:extLst>
          </p:cNvPr>
          <p:cNvSpPr>
            <a:spLocks noGrp="1"/>
          </p:cNvSpPr>
          <p:nvPr/>
        </p:nvSpPr>
        <p:spPr>
          <a:xfrm>
            <a:off x="7105650" y="4438650"/>
            <a:ext cx="384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rPr>
              <a:t>期末主模型：非線性風險排序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5C7263-6BB0-454E-9EE8-8F0352D9565D}"/>
              </a:ext>
            </a:extLst>
          </p:cNvPr>
          <p:cNvSpPr>
            <a:spLocks noGrp="1"/>
          </p:cNvSpPr>
          <p:nvPr/>
        </p:nvSpPr>
        <p:spPr>
          <a:xfrm>
            <a:off x="2228850" y="5353050"/>
            <a:ext cx="7734300" cy="838200"/>
          </a:xfrm>
          <a:prstGeom prst="rect">
            <a:avLst/>
          </a:prstGeom>
          <a:solidFill>
            <a:srgbClr val="E3F2F2"/>
          </a:solidFill>
          <a:ln w="9525">
            <a:solidFill>
              <a:srgbClr val="E3F2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1B5135-4B34-4A3C-A89F-E614218CC203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7162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注意：FP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=251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是期中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Balanced LR；FP=209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是期末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LR benchmark + threshold 0.268。</a:t>
            </a:r>
          </a:p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本頁比較的是期中基線與期末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MLP，不是把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LR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當期末主模型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BA7EC2-E1CD-4417-AC09-E7F7B5DBEB33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9278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0FA4E72-FA1A-4DE2-B977-44F2DFFF2B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243F99-87F8-4758-98BE-BF49AF1F79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D7399D-4FA8-4245-9FAE-4D203A78581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E4473D"/>
                </a:solidFill>
                <a:latin typeface="Aptos"/>
                <a:ea typeface="Aptos"/>
                <a:cs typeface="Aptos"/>
              </a:rPr>
              <a:t>NN Interpretation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892B28-9188-445D-AB2C-75D941BF378A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神經網路主軸下的判讀：MLP 有進步，也有取捨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0D7A0-15AB-4B4A-B7A0-D1F0981CDDA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9F5647-D14B-44F0-822E-BD215EC082E3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1876B8-DB3A-4E9F-8134-6FFAA71C3B83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A859CE-F86A-4C23-B5D7-E57A0F8AEA8C}"/>
              </a:ext>
            </a:extLst>
          </p:cNvPr>
          <p:cNvSpPr>
            <a:spLocks noGrp="1"/>
          </p:cNvSpPr>
          <p:nvPr/>
        </p:nvSpPr>
        <p:spPr>
          <a:xfrm>
            <a:off x="93345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PR-AUC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8C3703-8A64-4868-BD4B-C2A2B7E5E9A8}"/>
              </a:ext>
            </a:extLst>
          </p:cNvPr>
          <p:cNvSpPr>
            <a:spLocks noGrp="1"/>
          </p:cNvSpPr>
          <p:nvPr/>
        </p:nvSpPr>
        <p:spPr>
          <a:xfrm>
            <a:off x="93345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0.274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05ED7D-6D84-486F-8C95-5A7A51E7D9BC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高於 LR 0.252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5F2239-9334-4575-A254-BD686BCA6A3F}"/>
              </a:ext>
            </a:extLst>
          </p:cNvPr>
          <p:cNvSpPr>
            <a:spLocks noGrp="1"/>
          </p:cNvSpPr>
          <p:nvPr/>
        </p:nvSpPr>
        <p:spPr>
          <a:xfrm>
            <a:off x="466725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036F9A-B74E-493D-AB04-FD378518C7A3}"/>
              </a:ext>
            </a:extLst>
          </p:cNvPr>
          <p:cNvSpPr>
            <a:spLocks noGrp="1"/>
          </p:cNvSpPr>
          <p:nvPr/>
        </p:nvSpPr>
        <p:spPr>
          <a:xfrm>
            <a:off x="46672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A9DEA2-49A8-4AAE-9338-F1D1EA575FBB}"/>
              </a:ext>
            </a:extLst>
          </p:cNvPr>
          <p:cNvSpPr>
            <a:spLocks noGrp="1"/>
          </p:cNvSpPr>
          <p:nvPr/>
        </p:nvSpPr>
        <p:spPr>
          <a:xfrm>
            <a:off x="487680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Recall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77E273-3DC8-4D68-985A-2B62DFAA2969}"/>
              </a:ext>
            </a:extLst>
          </p:cNvPr>
          <p:cNvSpPr>
            <a:spLocks noGrp="1"/>
          </p:cNvSpPr>
          <p:nvPr/>
        </p:nvSpPr>
        <p:spPr>
          <a:xfrm>
            <a:off x="487680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0.78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4C382A-1F14-487A-B12E-D53AE8DFF7D3}"/>
              </a:ext>
            </a:extLst>
          </p:cNvPr>
          <p:cNvSpPr>
            <a:spLocks noGrp="1"/>
          </p:cNvSpPr>
          <p:nvPr/>
        </p:nvSpPr>
        <p:spPr>
          <a:xfrm>
            <a:off x="487680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 50 人抓到 39 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766C26-7767-463D-85C8-8736AF3A67D8}"/>
              </a:ext>
            </a:extLst>
          </p:cNvPr>
          <p:cNvSpPr>
            <a:spLocks noGrp="1"/>
          </p:cNvSpPr>
          <p:nvPr/>
        </p:nvSpPr>
        <p:spPr>
          <a:xfrm>
            <a:off x="861060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353261-42A4-433D-9273-FEC8C697F311}"/>
              </a:ext>
            </a:extLst>
          </p:cNvPr>
          <p:cNvSpPr>
            <a:spLocks noGrp="1"/>
          </p:cNvSpPr>
          <p:nvPr/>
        </p:nvSpPr>
        <p:spPr>
          <a:xfrm>
            <a:off x="861060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AB6BC1-2F31-41F9-A30A-2278FAF4EF3B}"/>
              </a:ext>
            </a:extLst>
          </p:cNvPr>
          <p:cNvSpPr>
            <a:spLocks noGrp="1"/>
          </p:cNvSpPr>
          <p:nvPr/>
        </p:nvSpPr>
        <p:spPr>
          <a:xfrm>
            <a:off x="882015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F2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C2392D-A04F-4445-9F6F-0446171B43D7}"/>
              </a:ext>
            </a:extLst>
          </p:cNvPr>
          <p:cNvSpPr>
            <a:spLocks noGrp="1"/>
          </p:cNvSpPr>
          <p:nvPr/>
        </p:nvSpPr>
        <p:spPr>
          <a:xfrm>
            <a:off x="882015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0.430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43D4E9-78B7-47C9-99D6-59D5E8230155}"/>
              </a:ext>
            </a:extLst>
          </p:cNvPr>
          <p:cNvSpPr>
            <a:spLocks noGrp="1"/>
          </p:cNvSpPr>
          <p:nvPr/>
        </p:nvSpPr>
        <p:spPr>
          <a:xfrm>
            <a:off x="882015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略低於 LR 0.445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87E6E1-14B7-416B-BD03-E281F2F08511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762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BAB573-0E3C-49D9-A349-E8997D301A87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神經網路學到了什麼？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7AF087-42F8-4D27-8077-CBD85B539B08}"/>
              </a:ext>
            </a:extLst>
          </p:cNvPr>
          <p:cNvSpPr>
            <a:spLocks noGrp="1"/>
          </p:cNvSpPr>
          <p:nvPr/>
        </p:nvSpPr>
        <p:spPr>
          <a:xfrm>
            <a:off x="1238250" y="42576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3A888F-C9D5-41EC-B728-C5C94B437268}"/>
              </a:ext>
            </a:extLst>
          </p:cNvPr>
          <p:cNvSpPr>
            <a:spLocks noGrp="1"/>
          </p:cNvSpPr>
          <p:nvPr/>
        </p:nvSpPr>
        <p:spPr>
          <a:xfrm>
            <a:off x="1466850" y="41719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可捕捉特徵交互作用。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91A043-91C8-4119-B8D8-72A8401D8EF2}"/>
              </a:ext>
            </a:extLst>
          </p:cNvPr>
          <p:cNvSpPr>
            <a:spLocks noGrp="1"/>
          </p:cNvSpPr>
          <p:nvPr/>
        </p:nvSpPr>
        <p:spPr>
          <a:xfrm>
            <a:off x="1238250" y="46767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2F4625-3668-4F0B-9A1E-D6AFAF197357}"/>
              </a:ext>
            </a:extLst>
          </p:cNvPr>
          <p:cNvSpPr>
            <a:spLocks noGrp="1"/>
          </p:cNvSpPr>
          <p:nvPr/>
        </p:nvSpPr>
        <p:spPr>
          <a:xfrm>
            <a:off x="1466850" y="45910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PR-AUC 提升，風險排序更有訊號。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3413F3-F57B-4C96-8CF8-B4425C14A533}"/>
              </a:ext>
            </a:extLst>
          </p:cNvPr>
          <p:cNvSpPr>
            <a:spLocks noGrp="1"/>
          </p:cNvSpPr>
          <p:nvPr/>
        </p:nvSpPr>
        <p:spPr>
          <a:xfrm>
            <a:off x="1238250" y="50958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172A2A-4822-4461-A83F-33284F28D9F2}"/>
              </a:ext>
            </a:extLst>
          </p:cNvPr>
          <p:cNvSpPr>
            <a:spLocks noGrp="1"/>
          </p:cNvSpPr>
          <p:nvPr/>
        </p:nvSpPr>
        <p:spPr>
          <a:xfrm>
            <a:off x="1466850" y="50101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門檻調整後，更像醫療預警器。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5E289F-7999-46A1-8DF8-44BB6C5B5FFA}"/>
              </a:ext>
            </a:extLst>
          </p:cNvPr>
          <p:cNvSpPr>
            <a:spLocks noGrp="1"/>
          </p:cNvSpPr>
          <p:nvPr/>
        </p:nvSpPr>
        <p:spPr>
          <a:xfrm>
            <a:off x="6553200" y="3333750"/>
            <a:ext cx="4762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1D3103-D9D1-4A99-8D43-70D719DB24E2}"/>
              </a:ext>
            </a:extLst>
          </p:cNvPr>
          <p:cNvSpPr>
            <a:spLocks noGrp="1"/>
          </p:cNvSpPr>
          <p:nvPr/>
        </p:nvSpPr>
        <p:spPr>
          <a:xfrm>
            <a:off x="6858000" y="3752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還需要注意什麼？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D71FAE-2B28-47A7-9344-157D24F5A7F6}"/>
              </a:ext>
            </a:extLst>
          </p:cNvPr>
          <p:cNvSpPr>
            <a:spLocks noGrp="1"/>
          </p:cNvSpPr>
          <p:nvPr/>
        </p:nvSpPr>
        <p:spPr>
          <a:xfrm>
            <a:off x="6915150" y="42576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945F71-6422-4C55-A503-0A916B49A38C}"/>
              </a:ext>
            </a:extLst>
          </p:cNvPr>
          <p:cNvSpPr>
            <a:spLocks noGrp="1"/>
          </p:cNvSpPr>
          <p:nvPr/>
        </p:nvSpPr>
        <p:spPr>
          <a:xfrm>
            <a:off x="7143750" y="421957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400" dirty="0"/>
              <a:t>stroke 樣本少，MLP 神經網路仍受類別不平衡影響。</a:t>
            </a:r>
          </a:p>
          <a:p>
            <a:pPr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endParaRPr sz="1425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562561-B2E3-47A9-8AE3-08981D69C190}"/>
              </a:ext>
            </a:extLst>
          </p:cNvPr>
          <p:cNvSpPr>
            <a:spLocks noGrp="1"/>
          </p:cNvSpPr>
          <p:nvPr/>
        </p:nvSpPr>
        <p:spPr>
          <a:xfrm>
            <a:off x="6915150" y="46767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2AE85E-C27F-4100-80DE-DD1BFF17E5F4}"/>
              </a:ext>
            </a:extLst>
          </p:cNvPr>
          <p:cNvSpPr>
            <a:spLocks noGrp="1"/>
          </p:cNvSpPr>
          <p:nvPr/>
        </p:nvSpPr>
        <p:spPr>
          <a:xfrm>
            <a:off x="7143750" y="45910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Recall/F2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尚未明顯贏過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LR。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FC550-D46A-4479-9CD4-FB70A9EBC854}"/>
              </a:ext>
            </a:extLst>
          </p:cNvPr>
          <p:cNvSpPr>
            <a:spLocks noGrp="1"/>
          </p:cNvSpPr>
          <p:nvPr/>
        </p:nvSpPr>
        <p:spPr>
          <a:xfrm>
            <a:off x="6915150" y="50958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B4E3DF-FC30-40EC-BC60-3341C4579660}"/>
              </a:ext>
            </a:extLst>
          </p:cNvPr>
          <p:cNvSpPr>
            <a:spLocks noGrp="1"/>
          </p:cNvSpPr>
          <p:nvPr/>
        </p:nvSpPr>
        <p:spPr>
          <a:xfrm>
            <a:off x="7143750" y="50101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未來可加入校準與成本敏感訓練。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6F6774-7982-488E-AF19-408A11596A28}"/>
              </a:ext>
            </a:extLst>
          </p:cNvPr>
          <p:cNvSpPr>
            <a:spLocks noGrp="1"/>
          </p:cNvSpPr>
          <p:nvPr/>
        </p:nvSpPr>
        <p:spPr>
          <a:xfrm>
            <a:off x="1466850" y="5962650"/>
            <a:ext cx="925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500" b="1" dirty="0"/>
              <a:t>因此本期末報告以 MLP 為主模型，並用 LR benchmark 作為判斷 MLP 神經網路成效的參考線。</a:t>
            </a:r>
          </a:p>
          <a:p>
            <a:pPr algn="ctr">
              <a:defRPr sz="150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1" dirty="0">
              <a:solidFill>
                <a:srgbClr val="E4473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2592BF-F579-4268-A247-BF437FB06A2C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E4473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7414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16DAB7A-88D1-4AF6-AA9F-5A6661580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AA5D5-7DCF-4E1E-BAE1-16331D0DB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B897A7-BD4B-4AE9-AF9B-79FB3F6F813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140970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65660A-C190-40FE-8173-9797C6B3C3A7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1257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CONCLUSION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FBA818-4EDD-488F-97A0-CB63C1B1F5EB}"/>
              </a:ext>
            </a:extLst>
          </p:cNvPr>
          <p:cNvSpPr>
            <a:spLocks noGrp="1"/>
          </p:cNvSpPr>
          <p:nvPr/>
        </p:nvSpPr>
        <p:spPr>
          <a:xfrm>
            <a:off x="647700" y="1133475"/>
            <a:ext cx="10287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結論：期末以神經網路延伸中風預測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B7B10C-D783-4F0C-9F5A-C5963CE9B08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5E950-7F46-47BF-922F-A707ECEA59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102164-FE59-4708-BDF4-25BA28E848A1}"/>
              </a:ext>
            </a:extLst>
          </p:cNvPr>
          <p:cNvSpPr>
            <a:spLocks noGrp="1"/>
          </p:cNvSpPr>
          <p:nvPr/>
        </p:nvSpPr>
        <p:spPr>
          <a:xfrm>
            <a:off x="1504950" y="21336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 適合這份表格型資料，可學習非線性特徵組合。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B5B321-FA57-4F6C-9EC9-D27C351F9A21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A37C5A-36C7-46B8-AC62-171B9509A4B3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701ACE-AA24-49F5-ACAD-CCAE08833D79}"/>
              </a:ext>
            </a:extLst>
          </p:cNvPr>
          <p:cNvSpPr>
            <a:spLocks noGrp="1"/>
          </p:cNvSpPr>
          <p:nvPr/>
        </p:nvSpPr>
        <p:spPr>
          <a:xfrm>
            <a:off x="1504950" y="29146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經 </a:t>
            </a:r>
            <a:r>
              <a:rPr sz="1425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GridSearchCV</a:t>
            </a:r>
            <a:r>
              <a:rPr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與 OOF F2 </a:t>
            </a:r>
            <a:r>
              <a:rPr sz="1425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門檻調整後</a:t>
            </a:r>
            <a:r>
              <a:rPr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lang="zh-TW" altLang="zh-TW" sz="1425" dirty="0"/>
              <a:t>MLP 測試 Recall 達 0.78</a:t>
            </a:r>
            <a:r>
              <a:rPr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65A637-CEB5-4531-8F4D-7AFDDE27E0A2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7086600" cy="590550"/>
          </a:xfrm>
          <a:prstGeom prst="rect">
            <a:avLst/>
          </a:prstGeom>
          <a:solidFill>
            <a:srgbClr val="2B4255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2BA46E-C522-4DBA-9FA4-467C93290FC5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B64555-0AB4-47CC-A011-89153A79817A}"/>
              </a:ext>
            </a:extLst>
          </p:cNvPr>
          <p:cNvSpPr>
            <a:spLocks noGrp="1"/>
          </p:cNvSpPr>
          <p:nvPr/>
        </p:nvSpPr>
        <p:spPr>
          <a:xfrm>
            <a:off x="1504950" y="36957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的 PR-AUC 0.274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高於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LR benchmark 0.252，但 Recall/F2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仍略低於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LR benchmark。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C45060-4B6F-45CF-8F1D-D754FB48999E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4F0E48-3091-4AF8-B117-8C7BC26B151E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A3AEFA-3868-43A1-AB93-830A94A5841C}"/>
              </a:ext>
            </a:extLst>
          </p:cNvPr>
          <p:cNvSpPr>
            <a:spLocks noGrp="1"/>
          </p:cNvSpPr>
          <p:nvPr/>
        </p:nvSpPr>
        <p:spPr>
          <a:xfrm>
            <a:off x="1504950" y="4476750"/>
            <a:ext cx="617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實務上可把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142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作為風險排序工具，後續再搭配醫師檢查與更多資料驗證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167868-B839-4ED1-BBA5-627F9B44F883}"/>
              </a:ext>
            </a:extLst>
          </p:cNvPr>
          <p:cNvSpPr>
            <a:spLocks noGrp="1"/>
          </p:cNvSpPr>
          <p:nvPr/>
        </p:nvSpPr>
        <p:spPr>
          <a:xfrm>
            <a:off x="8210550" y="2152650"/>
            <a:ext cx="30480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99A35-A060-458A-ABD3-2F907AD5E38C}"/>
              </a:ext>
            </a:extLst>
          </p:cNvPr>
          <p:cNvSpPr>
            <a:spLocks noGrp="1"/>
          </p:cNvSpPr>
          <p:nvPr/>
        </p:nvSpPr>
        <p:spPr>
          <a:xfrm>
            <a:off x="8496300" y="24003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未來應用</a:t>
            </a:r>
            <a:endParaRPr sz="2000" b="1" dirty="0">
              <a:solidFill>
                <a:srgbClr val="2035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9233D7-FE25-445D-B8CE-F87DD5F3FC15}"/>
              </a:ext>
            </a:extLst>
          </p:cNvPr>
          <p:cNvSpPr>
            <a:spLocks noGrp="1"/>
          </p:cNvSpPr>
          <p:nvPr/>
        </p:nvSpPr>
        <p:spPr>
          <a:xfrm>
            <a:off x="8405813" y="2819400"/>
            <a:ext cx="26384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1.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建立初步風險預警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2.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優先安排高風險檢查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3.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增加資料後重新訓練</a:t>
            </a: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160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4.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加入機率校準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5.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加入成本敏感學習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AA9B2A-E414-4FA9-B731-B54D5D319C30}"/>
              </a:ext>
            </a:extLst>
          </p:cNvPr>
          <p:cNvSpPr>
            <a:spLocks noGrp="1"/>
          </p:cNvSpPr>
          <p:nvPr/>
        </p:nvSpPr>
        <p:spPr>
          <a:xfrm>
            <a:off x="8210550" y="51435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隱藏趨勢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A887D5-6239-4CA1-AFBF-573A3B93328F}"/>
              </a:ext>
            </a:extLst>
          </p:cNvPr>
          <p:cNvSpPr>
            <a:spLocks noGrp="1"/>
          </p:cNvSpPr>
          <p:nvPr/>
        </p:nvSpPr>
        <p:spPr>
          <a:xfrm>
            <a:off x="8001000" y="5562600"/>
            <a:ext cx="3467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ED9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CED9E2"/>
                </a:solidFill>
                <a:latin typeface="Microsoft JhengHei"/>
                <a:ea typeface="Microsoft JhengHei"/>
                <a:cs typeface="Microsoft JhengHei"/>
              </a:rPr>
              <a:t>中風不是單一欄位決定，而是年齡、健康指標與生活背景共同累積的風險。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CD2CC0-C0E2-279C-8706-5BD8DEAF4A48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lang="en-US" sz="1050" b="1" dirty="0">
                <a:solidFill>
                  <a:srgbClr val="E4473D"/>
                </a:solidFill>
                <a:latin typeface="Aptos"/>
                <a:ea typeface="Aptos"/>
                <a:cs typeface="Aptos"/>
              </a:rPr>
              <a:t>16</a:t>
            </a:r>
          </a:p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endParaRPr sz="1050" b="1" dirty="0">
              <a:solidFill>
                <a:srgbClr val="E4473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7050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FD61CBA-5A43-41B6-A156-412B07A5C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AE859E-73A0-4607-9BC7-A1ACD6D203C6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914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5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dirty="0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743330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871</Words>
  <Application>Microsoft Office PowerPoint</Application>
  <DocSecurity>0</DocSecurity>
  <PresentationFormat>寬螢幕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Microsoft JhengHei</vt:lpstr>
      <vt:lpstr>Aptos</vt:lpstr>
      <vt:lpstr>Aptos Display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 wang</cp:lastModifiedBy>
  <cp:revision>4</cp:revision>
  <dcterms:created xsi:type="dcterms:W3CDTF">2026-06-21T09:59:59Z</dcterms:created>
  <dcterms:modified xsi:type="dcterms:W3CDTF">2026-06-22T15:11:10Z</dcterms:modified>
</cp:coreProperties>
</file>